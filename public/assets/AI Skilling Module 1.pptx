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4"/>
  </p:notesMasterIdLst>
  <p:sldIdLst>
    <p:sldId id="257" r:id="rId5"/>
    <p:sldId id="262" r:id="rId6"/>
    <p:sldId id="291" r:id="rId7"/>
    <p:sldId id="331" r:id="rId8"/>
    <p:sldId id="332" r:id="rId9"/>
    <p:sldId id="311" r:id="rId10"/>
    <p:sldId id="322" r:id="rId11"/>
    <p:sldId id="260" r:id="rId12"/>
    <p:sldId id="261" r:id="rId13"/>
    <p:sldId id="334" r:id="rId14"/>
    <p:sldId id="277" r:id="rId15"/>
    <p:sldId id="280" r:id="rId16"/>
    <p:sldId id="321" r:id="rId17"/>
    <p:sldId id="266" r:id="rId18"/>
    <p:sldId id="315" r:id="rId19"/>
    <p:sldId id="312" r:id="rId20"/>
    <p:sldId id="323" r:id="rId21"/>
    <p:sldId id="287" r:id="rId22"/>
    <p:sldId id="320" r:id="rId23"/>
    <p:sldId id="293" r:id="rId24"/>
    <p:sldId id="297" r:id="rId25"/>
    <p:sldId id="318" r:id="rId26"/>
    <p:sldId id="324" r:id="rId27"/>
    <p:sldId id="307" r:id="rId28"/>
    <p:sldId id="308" r:id="rId29"/>
    <p:sldId id="303" r:id="rId30"/>
    <p:sldId id="313" r:id="rId31"/>
    <p:sldId id="319" r:id="rId32"/>
    <p:sldId id="302" r:id="rId33"/>
    <p:sldId id="286" r:id="rId34"/>
    <p:sldId id="304" r:id="rId35"/>
    <p:sldId id="327" r:id="rId36"/>
    <p:sldId id="329" r:id="rId37"/>
    <p:sldId id="330" r:id="rId38"/>
    <p:sldId id="305" r:id="rId39"/>
    <p:sldId id="310" r:id="rId40"/>
    <p:sldId id="278" r:id="rId41"/>
    <p:sldId id="325" r:id="rId42"/>
    <p:sldId id="326" r:id="rId43"/>
    <p:sldId id="292" r:id="rId44"/>
    <p:sldId id="290" r:id="rId45"/>
    <p:sldId id="298" r:id="rId46"/>
    <p:sldId id="299" r:id="rId47"/>
    <p:sldId id="300" r:id="rId48"/>
    <p:sldId id="294" r:id="rId49"/>
    <p:sldId id="316" r:id="rId50"/>
    <p:sldId id="328" r:id="rId51"/>
    <p:sldId id="333" r:id="rId52"/>
    <p:sldId id="264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01" dt="2026-09-07T09:59:44.358"/>
    <p1510:client id="{355016A9-B176-60B8-B869-82AF40B2BE6D}" v="4" dt="2026-09-07T09:46:09.043"/>
    <p1510:client id="{4D1B4E68-FE28-81CC-8495-0BB0A25D1B91}" v="54" dt="2026-09-08T01:55:44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ra Muthukrishnan" userId="S::meera@visionempowertrust.org::d828a7ba-2585-4325-b591-73aa0d8f5866" providerId="AD" clId="Web-{00000000-0000-0000-0000-000000000000}"/>
    <pc:docChg chg="addSld delSld modSld">
      <pc:chgData name="Meera Muthukrishnan" userId="S::meera@visionempowertrust.org::d828a7ba-2585-4325-b591-73aa0d8f5866" providerId="AD" clId="Web-{00000000-0000-0000-0000-000000000000}" dt="2026-09-07T09:59:44.358" v="298" actId="20577"/>
      <pc:docMkLst>
        <pc:docMk/>
      </pc:docMkLst>
      <pc:sldChg chg="del">
        <pc:chgData name="Meera Muthukrishnan" userId="S::meera@visionempowertrust.org::d828a7ba-2585-4325-b591-73aa0d8f5866" providerId="AD" clId="Web-{00000000-0000-0000-0000-000000000000}" dt="2026-09-07T09:46:50.652" v="0"/>
        <pc:sldMkLst>
          <pc:docMk/>
          <pc:sldMk cId="3686835434" sldId="258"/>
        </pc:sldMkLst>
      </pc:sldChg>
      <pc:sldChg chg="modSp">
        <pc:chgData name="Meera Muthukrishnan" userId="S::meera@visionempowertrust.org::d828a7ba-2585-4325-b591-73aa0d8f5866" providerId="AD" clId="Web-{00000000-0000-0000-0000-000000000000}" dt="2026-09-07T09:51:10.841" v="89" actId="20577"/>
        <pc:sldMkLst>
          <pc:docMk/>
          <pc:sldMk cId="2500525408" sldId="261"/>
        </pc:sldMkLst>
        <pc:spChg chg="mod">
          <ac:chgData name="Meera Muthukrishnan" userId="S::meera@visionempowertrust.org::d828a7ba-2585-4325-b591-73aa0d8f5866" providerId="AD" clId="Web-{00000000-0000-0000-0000-000000000000}" dt="2026-09-07T09:51:10.841" v="89" actId="20577"/>
          <ac:spMkLst>
            <pc:docMk/>
            <pc:sldMk cId="2500525408" sldId="261"/>
            <ac:spMk id="3" creationId="{12679765-8E5E-36CC-175F-66FCE9FF86BC}"/>
          </ac:spMkLst>
        </pc:spChg>
      </pc:sldChg>
      <pc:sldChg chg="del">
        <pc:chgData name="Meera Muthukrishnan" userId="S::meera@visionempowertrust.org::d828a7ba-2585-4325-b591-73aa0d8f5866" providerId="AD" clId="Web-{00000000-0000-0000-0000-000000000000}" dt="2026-09-07T09:46:50.652" v="1"/>
        <pc:sldMkLst>
          <pc:docMk/>
          <pc:sldMk cId="245070880" sldId="263"/>
        </pc:sldMkLst>
      </pc:sldChg>
      <pc:sldChg chg="add del mod modShow">
        <pc:chgData name="Meera Muthukrishnan" userId="S::meera@visionempowertrust.org::d828a7ba-2585-4325-b591-73aa0d8f5866" providerId="AD" clId="Web-{00000000-0000-0000-0000-000000000000}" dt="2026-09-07T09:51:17.919" v="92"/>
        <pc:sldMkLst>
          <pc:docMk/>
          <pc:sldMk cId="3364640063" sldId="264"/>
        </pc:sldMkLst>
      </pc:sldChg>
      <pc:sldChg chg="modSp">
        <pc:chgData name="Meera Muthukrishnan" userId="S::meera@visionempowertrust.org::d828a7ba-2585-4325-b591-73aa0d8f5866" providerId="AD" clId="Web-{00000000-0000-0000-0000-000000000000}" dt="2026-09-07T09:52:12.966" v="111" actId="1076"/>
        <pc:sldMkLst>
          <pc:docMk/>
          <pc:sldMk cId="2913635624" sldId="266"/>
        </pc:sldMkLst>
        <pc:spChg chg="mod">
          <ac:chgData name="Meera Muthukrishnan" userId="S::meera@visionempowertrust.org::d828a7ba-2585-4325-b591-73aa0d8f5866" providerId="AD" clId="Web-{00000000-0000-0000-0000-000000000000}" dt="2026-09-07T09:52:06.107" v="109" actId="20577"/>
          <ac:spMkLst>
            <pc:docMk/>
            <pc:sldMk cId="2913635624" sldId="266"/>
            <ac:spMk id="3" creationId="{5A3C6E3F-4B9A-4B1D-75D5-3D3C6D80A88F}"/>
          </ac:spMkLst>
        </pc:spChg>
        <pc:graphicFrameChg chg="mod">
          <ac:chgData name="Meera Muthukrishnan" userId="S::meera@visionempowertrust.org::d828a7ba-2585-4325-b591-73aa0d8f5866" providerId="AD" clId="Web-{00000000-0000-0000-0000-000000000000}" dt="2026-09-07T09:52:12.966" v="111" actId="1076"/>
          <ac:graphicFrameMkLst>
            <pc:docMk/>
            <pc:sldMk cId="2913635624" sldId="266"/>
            <ac:graphicFrameMk id="6" creationId="{34676CF1-541A-9264-BD46-2180C732A607}"/>
          </ac:graphicFrameMkLst>
        </pc:graphicFrameChg>
      </pc:sldChg>
      <pc:sldChg chg="modSp">
        <pc:chgData name="Meera Muthukrishnan" userId="S::meera@visionempowertrust.org::d828a7ba-2585-4325-b591-73aa0d8f5866" providerId="AD" clId="Web-{00000000-0000-0000-0000-000000000000}" dt="2026-09-07T09:52:53.232" v="179" actId="20577"/>
        <pc:sldMkLst>
          <pc:docMk/>
          <pc:sldMk cId="3794474243" sldId="277"/>
        </pc:sldMkLst>
        <pc:spChg chg="mod">
          <ac:chgData name="Meera Muthukrishnan" userId="S::meera@visionempowertrust.org::d828a7ba-2585-4325-b591-73aa0d8f5866" providerId="AD" clId="Web-{00000000-0000-0000-0000-000000000000}" dt="2026-09-07T09:52:53.232" v="179" actId="20577"/>
          <ac:spMkLst>
            <pc:docMk/>
            <pc:sldMk cId="3794474243" sldId="277"/>
            <ac:spMk id="3" creationId="{F2105D95-D098-8EB2-6842-9D7E14F5CF4C}"/>
          </ac:spMkLst>
        </pc:spChg>
      </pc:sldChg>
      <pc:sldChg chg="add del">
        <pc:chgData name="Meera Muthukrishnan" userId="S::meera@visionempowertrust.org::d828a7ba-2585-4325-b591-73aa0d8f5866" providerId="AD" clId="Web-{00000000-0000-0000-0000-000000000000}" dt="2026-09-07T09:55:06.638" v="277"/>
        <pc:sldMkLst>
          <pc:docMk/>
          <pc:sldMk cId="3965570650" sldId="287"/>
        </pc:sldMkLst>
      </pc:sldChg>
      <pc:sldChg chg="add del mod modShow">
        <pc:chgData name="Meera Muthukrishnan" userId="S::meera@visionempowertrust.org::d828a7ba-2585-4325-b591-73aa0d8f5866" providerId="AD" clId="Web-{00000000-0000-0000-0000-000000000000}" dt="2026-09-07T09:48:00.871" v="11"/>
        <pc:sldMkLst>
          <pc:docMk/>
          <pc:sldMk cId="2916478882" sldId="294"/>
        </pc:sldMkLst>
      </pc:sldChg>
      <pc:sldChg chg="modSp">
        <pc:chgData name="Meera Muthukrishnan" userId="S::meera@visionempowertrust.org::d828a7ba-2585-4325-b591-73aa0d8f5866" providerId="AD" clId="Web-{00000000-0000-0000-0000-000000000000}" dt="2026-09-07T09:54:48.529" v="270" actId="20577"/>
        <pc:sldMkLst>
          <pc:docMk/>
          <pc:sldMk cId="270304045" sldId="297"/>
        </pc:sldMkLst>
        <pc:spChg chg="mod">
          <ac:chgData name="Meera Muthukrishnan" userId="S::meera@visionempowertrust.org::d828a7ba-2585-4325-b591-73aa0d8f5866" providerId="AD" clId="Web-{00000000-0000-0000-0000-000000000000}" dt="2026-09-07T09:54:48.529" v="270" actId="20577"/>
          <ac:spMkLst>
            <pc:docMk/>
            <pc:sldMk cId="270304045" sldId="297"/>
            <ac:spMk id="3" creationId="{794D16B6-FBC4-DD7B-4C46-8AE029CE3031}"/>
          </ac:spMkLst>
        </pc:spChg>
      </pc:sldChg>
      <pc:sldChg chg="modSp">
        <pc:chgData name="Meera Muthukrishnan" userId="S::meera@visionempowertrust.org::d828a7ba-2585-4325-b591-73aa0d8f5866" providerId="AD" clId="Web-{00000000-0000-0000-0000-000000000000}" dt="2026-09-07T09:49:29.950" v="13" actId="20577"/>
        <pc:sldMkLst>
          <pc:docMk/>
          <pc:sldMk cId="3676658676" sldId="303"/>
        </pc:sldMkLst>
        <pc:spChg chg="mod">
          <ac:chgData name="Meera Muthukrishnan" userId="S::meera@visionempowertrust.org::d828a7ba-2585-4325-b591-73aa0d8f5866" providerId="AD" clId="Web-{00000000-0000-0000-0000-000000000000}" dt="2026-09-07T09:49:29.950" v="13" actId="20577"/>
          <ac:spMkLst>
            <pc:docMk/>
            <pc:sldMk cId="3676658676" sldId="303"/>
            <ac:spMk id="3" creationId="{BD891FD3-005F-4E25-3189-B9DDB5C4F413}"/>
          </ac:spMkLst>
        </pc:spChg>
      </pc:sldChg>
      <pc:sldChg chg="add del mod modShow">
        <pc:chgData name="Meera Muthukrishnan" userId="S::meera@visionempowertrust.org::d828a7ba-2585-4325-b591-73aa0d8f5866" providerId="AD" clId="Web-{00000000-0000-0000-0000-000000000000}" dt="2026-09-07T09:48:00.856" v="10"/>
        <pc:sldMkLst>
          <pc:docMk/>
          <pc:sldMk cId="2978957586" sldId="316"/>
        </pc:sldMkLst>
      </pc:sldChg>
      <pc:sldChg chg="modSp">
        <pc:chgData name="Meera Muthukrishnan" userId="S::meera@visionempowertrust.org::d828a7ba-2585-4325-b591-73aa0d8f5866" providerId="AD" clId="Web-{00000000-0000-0000-0000-000000000000}" dt="2026-09-07T09:54:56.810" v="273" actId="20577"/>
        <pc:sldMkLst>
          <pc:docMk/>
          <pc:sldMk cId="1454522513" sldId="318"/>
        </pc:sldMkLst>
        <pc:spChg chg="mod">
          <ac:chgData name="Meera Muthukrishnan" userId="S::meera@visionempowertrust.org::d828a7ba-2585-4325-b591-73aa0d8f5866" providerId="AD" clId="Web-{00000000-0000-0000-0000-000000000000}" dt="2026-09-07T09:54:56.810" v="273" actId="20577"/>
          <ac:spMkLst>
            <pc:docMk/>
            <pc:sldMk cId="1454522513" sldId="318"/>
            <ac:spMk id="3" creationId="{A3ADE160-8AC7-4AEB-2ADE-A092C089694E}"/>
          </ac:spMkLst>
        </pc:spChg>
      </pc:sldChg>
      <pc:sldChg chg="add del">
        <pc:chgData name="Meera Muthukrishnan" userId="S::meera@visionempowertrust.org::d828a7ba-2585-4325-b591-73aa0d8f5866" providerId="AD" clId="Web-{00000000-0000-0000-0000-000000000000}" dt="2026-09-07T09:55:06.607" v="276"/>
        <pc:sldMkLst>
          <pc:docMk/>
          <pc:sldMk cId="3190727246" sldId="323"/>
        </pc:sldMkLst>
      </pc:sldChg>
      <pc:sldChg chg="modSp">
        <pc:chgData name="Meera Muthukrishnan" userId="S::meera@visionempowertrust.org::d828a7ba-2585-4325-b591-73aa0d8f5866" providerId="AD" clId="Web-{00000000-0000-0000-0000-000000000000}" dt="2026-09-07T09:59:44.358" v="298" actId="20577"/>
        <pc:sldMkLst>
          <pc:docMk/>
          <pc:sldMk cId="907765373" sldId="327"/>
        </pc:sldMkLst>
        <pc:spChg chg="mod">
          <ac:chgData name="Meera Muthukrishnan" userId="S::meera@visionempowertrust.org::d828a7ba-2585-4325-b591-73aa0d8f5866" providerId="AD" clId="Web-{00000000-0000-0000-0000-000000000000}" dt="2026-09-07T09:59:44.358" v="298" actId="20577"/>
          <ac:spMkLst>
            <pc:docMk/>
            <pc:sldMk cId="907765373" sldId="327"/>
            <ac:spMk id="2" creationId="{AD90B68A-F2F4-B81B-74E6-91C4D3BD866E}"/>
          </ac:spMkLst>
        </pc:spChg>
      </pc:sldChg>
      <pc:sldChg chg="add del mod modShow">
        <pc:chgData name="Meera Muthukrishnan" userId="S::meera@visionempowertrust.org::d828a7ba-2585-4325-b591-73aa0d8f5866" providerId="AD" clId="Web-{00000000-0000-0000-0000-000000000000}" dt="2026-09-07T09:50:19.481" v="16"/>
        <pc:sldMkLst>
          <pc:docMk/>
          <pc:sldMk cId="1255476082" sldId="328"/>
        </pc:sldMkLst>
      </pc:sldChg>
      <pc:sldChg chg="add replId">
        <pc:chgData name="Meera Muthukrishnan" userId="S::meera@visionempowertrust.org::d828a7ba-2585-4325-b591-73aa0d8f5866" providerId="AD" clId="Web-{00000000-0000-0000-0000-000000000000}" dt="2026-09-07T09:50:20.434" v="17"/>
        <pc:sldMkLst>
          <pc:docMk/>
          <pc:sldMk cId="1155558731" sldId="333"/>
        </pc:sldMkLst>
      </pc:sldChg>
    </pc:docChg>
  </pc:docChgLst>
  <pc:docChgLst>
    <pc:chgData name="Meera Muthukrishnan" userId="S::meera@visionempowertrust.org::d828a7ba-2585-4325-b591-73aa0d8f5866" providerId="AD" clId="Web-{34138A91-CE29-6888-2463-E1F26734D35B}"/>
    <pc:docChg chg="addSld modSld sldOrd">
      <pc:chgData name="Meera Muthukrishnan" userId="S::meera@visionempowertrust.org::d828a7ba-2585-4325-b591-73aa0d8f5866" providerId="AD" clId="Web-{34138A91-CE29-6888-2463-E1F26734D35B}" dt="2026-08-26T10:33:13.188" v="16" actId="20577"/>
      <pc:docMkLst>
        <pc:docMk/>
      </pc:docMkLst>
      <pc:sldChg chg="modSp add ord">
        <pc:chgData name="Meera Muthukrishnan" userId="S::meera@visionempowertrust.org::d828a7ba-2585-4325-b591-73aa0d8f5866" providerId="AD" clId="Web-{34138A91-CE29-6888-2463-E1F26734D35B}" dt="2026-08-26T10:33:13.188" v="16" actId="20577"/>
        <pc:sldMkLst>
          <pc:docMk/>
          <pc:sldMk cId="1479565106" sldId="257"/>
        </pc:sldMkLst>
        <pc:spChg chg="mod">
          <ac:chgData name="Meera Muthukrishnan" userId="S::meera@visionempowertrust.org::d828a7ba-2585-4325-b591-73aa0d8f5866" providerId="AD" clId="Web-{34138A91-CE29-6888-2463-E1F26734D35B}" dt="2026-08-26T10:33:13.188" v="16" actId="20577"/>
          <ac:spMkLst>
            <pc:docMk/>
            <pc:sldMk cId="1479565106" sldId="257"/>
            <ac:spMk id="3" creationId="{0A37B741-42E9-DA37-7642-16595A6D170B}"/>
          </ac:spMkLst>
        </pc:spChg>
      </pc:sldChg>
    </pc:docChg>
  </pc:docChgLst>
  <pc:docChgLst>
    <pc:chgData name="Meera Muthukrishnan" userId="S::meera@visionempowertrust.org::d828a7ba-2585-4325-b591-73aa0d8f5866" providerId="AD" clId="Web-{2C4AC6DB-D9DF-B3F6-07DD-A5172E4A1159}"/>
    <pc:docChg chg="addSld delSld modSld">
      <pc:chgData name="Meera Muthukrishnan" userId="S::meera@visionempowertrust.org::d828a7ba-2585-4325-b591-73aa0d8f5866" providerId="AD" clId="Web-{2C4AC6DB-D9DF-B3F6-07DD-A5172E4A1159}" dt="2026-08-28T06:51:45.803" v="17"/>
      <pc:docMkLst>
        <pc:docMk/>
      </pc:docMkLst>
      <pc:sldChg chg="modSp">
        <pc:chgData name="Meera Muthukrishnan" userId="S::meera@visionempowertrust.org::d828a7ba-2585-4325-b591-73aa0d8f5866" providerId="AD" clId="Web-{2C4AC6DB-D9DF-B3F6-07DD-A5172E4A1159}" dt="2026-08-28T06:25:12.185" v="3" actId="20577"/>
        <pc:sldMkLst>
          <pc:docMk/>
          <pc:sldMk cId="2734637805" sldId="315"/>
        </pc:sldMkLst>
        <pc:spChg chg="mod">
          <ac:chgData name="Meera Muthukrishnan" userId="S::meera@visionempowertrust.org::d828a7ba-2585-4325-b591-73aa0d8f5866" providerId="AD" clId="Web-{2C4AC6DB-D9DF-B3F6-07DD-A5172E4A1159}" dt="2026-08-28T06:25:12.185" v="3" actId="20577"/>
          <ac:spMkLst>
            <pc:docMk/>
            <pc:sldMk cId="2734637805" sldId="315"/>
            <ac:spMk id="3" creationId="{ED95AF20-1683-B4F7-E208-6329D08EF88B}"/>
          </ac:spMkLst>
        </pc:spChg>
      </pc:sldChg>
      <pc:sldChg chg="add">
        <pc:chgData name="Meera Muthukrishnan" userId="S::meera@visionempowertrust.org::d828a7ba-2585-4325-b591-73aa0d8f5866" providerId="AD" clId="Web-{2C4AC6DB-D9DF-B3F6-07DD-A5172E4A1159}" dt="2026-08-28T06:51:39.662" v="14"/>
        <pc:sldMkLst>
          <pc:docMk/>
          <pc:sldMk cId="2275464794" sldId="325"/>
        </pc:sldMkLst>
      </pc:sldChg>
      <pc:sldChg chg="add">
        <pc:chgData name="Meera Muthukrishnan" userId="S::meera@visionempowertrust.org::d828a7ba-2585-4325-b591-73aa0d8f5866" providerId="AD" clId="Web-{2C4AC6DB-D9DF-B3F6-07DD-A5172E4A1159}" dt="2026-08-28T06:51:39.693" v="15"/>
        <pc:sldMkLst>
          <pc:docMk/>
          <pc:sldMk cId="3017925631" sldId="326"/>
        </pc:sldMkLst>
      </pc:sldChg>
    </pc:docChg>
  </pc:docChgLst>
  <pc:docChgLst>
    <pc:chgData name="Sonali Kharade" userId="S::sonali@visionempowertrust.org::b0f4a1c3-0d73-4b63-88c0-b03574872e87" providerId="AD" clId="Web-{23089829-C596-682A-CFB2-51B09A3473EA}"/>
    <pc:docChg chg="delSld modSld">
      <pc:chgData name="Sonali Kharade" userId="S::sonali@visionempowertrust.org::b0f4a1c3-0d73-4b63-88c0-b03574872e87" providerId="AD" clId="Web-{23089829-C596-682A-CFB2-51B09A3473EA}" dt="2026-08-18T16:52:48.693" v="2" actId="1076"/>
      <pc:docMkLst>
        <pc:docMk/>
      </pc:docMkLst>
      <pc:sldChg chg="modSp">
        <pc:chgData name="Sonali Kharade" userId="S::sonali@visionempowertrust.org::b0f4a1c3-0d73-4b63-88c0-b03574872e87" providerId="AD" clId="Web-{23089829-C596-682A-CFB2-51B09A3473EA}" dt="2026-08-18T16:52:48.693" v="2" actId="1076"/>
        <pc:sldMkLst>
          <pc:docMk/>
          <pc:sldMk cId="300182861" sldId="311"/>
        </pc:sldMkLst>
        <pc:spChg chg="mod">
          <ac:chgData name="Sonali Kharade" userId="S::sonali@visionempowertrust.org::b0f4a1c3-0d73-4b63-88c0-b03574872e87" providerId="AD" clId="Web-{23089829-C596-682A-CFB2-51B09A3473EA}" dt="2026-08-18T16:52:48.693" v="2" actId="1076"/>
          <ac:spMkLst>
            <pc:docMk/>
            <pc:sldMk cId="300182861" sldId="311"/>
            <ac:spMk id="32" creationId="{ED0451DD-E486-A0E2-F184-39C0E540C332}"/>
          </ac:spMkLst>
        </pc:spChg>
      </pc:sldChg>
    </pc:docChg>
  </pc:docChgLst>
  <pc:docChgLst>
    <pc:chgData name="Meera Muthukrishnan" userId="S::meera@visionempowertrust.org::d828a7ba-2585-4325-b591-73aa0d8f5866" providerId="AD" clId="Web-{355016A9-B176-60B8-B869-82AF40B2BE6D}"/>
    <pc:docChg chg="addSld sldOrd">
      <pc:chgData name="Meera Muthukrishnan" userId="S::meera@visionempowertrust.org::d828a7ba-2585-4325-b591-73aa0d8f5866" providerId="AD" clId="Web-{355016A9-B176-60B8-B869-82AF40B2BE6D}" dt="2026-09-07T09:46:09.043" v="3"/>
      <pc:docMkLst>
        <pc:docMk/>
      </pc:docMkLst>
      <pc:sldChg chg="ord">
        <pc:chgData name="Meera Muthukrishnan" userId="S::meera@visionempowertrust.org::d828a7ba-2585-4325-b591-73aa0d8f5866" providerId="AD" clId="Web-{355016A9-B176-60B8-B869-82AF40B2BE6D}" dt="2026-09-07T09:46:09.043" v="3"/>
        <pc:sldMkLst>
          <pc:docMk/>
          <pc:sldMk cId="3556693359" sldId="291"/>
        </pc:sldMkLst>
      </pc:sldChg>
      <pc:sldChg chg="add">
        <pc:chgData name="Meera Muthukrishnan" userId="S::meera@visionempowertrust.org::d828a7ba-2585-4325-b591-73aa0d8f5866" providerId="AD" clId="Web-{355016A9-B176-60B8-B869-82AF40B2BE6D}" dt="2026-09-07T09:45:31.791" v="0"/>
        <pc:sldMkLst>
          <pc:docMk/>
          <pc:sldMk cId="318963789" sldId="331"/>
        </pc:sldMkLst>
      </pc:sldChg>
      <pc:sldChg chg="add">
        <pc:chgData name="Meera Muthukrishnan" userId="S::meera@visionempowertrust.org::d828a7ba-2585-4325-b591-73aa0d8f5866" providerId="AD" clId="Web-{355016A9-B176-60B8-B869-82AF40B2BE6D}" dt="2026-09-07T09:45:31.823" v="1"/>
        <pc:sldMkLst>
          <pc:docMk/>
          <pc:sldMk cId="3427497746" sldId="332"/>
        </pc:sldMkLst>
      </pc:sldChg>
    </pc:docChg>
  </pc:docChgLst>
  <pc:docChgLst>
    <pc:chgData name="Yuvaraj PK" userId="S::yuvaraj@visionempowertrust.org::ee70df89-fbc9-4364-93c2-901918c82222" providerId="AD" clId="Web-{6ABEC397-6BD8-707E-B0A6-E3D8E106C515}"/>
    <pc:docChg chg="modSld">
      <pc:chgData name="Yuvaraj PK" userId="S::yuvaraj@visionempowertrust.org::ee70df89-fbc9-4364-93c2-901918c82222" providerId="AD" clId="Web-{6ABEC397-6BD8-707E-B0A6-E3D8E106C515}" dt="2026-08-18T12:55:36.078" v="11"/>
      <pc:docMkLst>
        <pc:docMk/>
      </pc:docMkLst>
      <pc:sldChg chg="delSp modSp">
        <pc:chgData name="Yuvaraj PK" userId="S::yuvaraj@visionempowertrust.org::ee70df89-fbc9-4364-93c2-901918c82222" providerId="AD" clId="Web-{6ABEC397-6BD8-707E-B0A6-E3D8E106C515}" dt="2026-08-18T12:55:36.078" v="11"/>
        <pc:sldMkLst>
          <pc:docMk/>
          <pc:sldMk cId="2991156870" sldId="319"/>
        </pc:sldMkLst>
      </pc:sldChg>
      <pc:sldChg chg="delSp modSp">
        <pc:chgData name="Yuvaraj PK" userId="S::yuvaraj@visionempowertrust.org::ee70df89-fbc9-4364-93c2-901918c82222" providerId="AD" clId="Web-{6ABEC397-6BD8-707E-B0A6-E3D8E106C515}" dt="2026-08-18T12:55:21.109" v="5"/>
        <pc:sldMkLst>
          <pc:docMk/>
          <pc:sldMk cId="3054449352" sldId="320"/>
        </pc:sldMkLst>
      </pc:sldChg>
      <pc:sldChg chg="delSp modSp">
        <pc:chgData name="Yuvaraj PK" userId="S::yuvaraj@visionempowertrust.org::ee70df89-fbc9-4364-93c2-901918c82222" providerId="AD" clId="Web-{6ABEC397-6BD8-707E-B0A6-E3D8E106C515}" dt="2026-08-18T12:55:16.031" v="3"/>
        <pc:sldMkLst>
          <pc:docMk/>
          <pc:sldMk cId="2586773927" sldId="321"/>
        </pc:sldMkLst>
      </pc:sldChg>
      <pc:sldChg chg="delSp modSp">
        <pc:chgData name="Yuvaraj PK" userId="S::yuvaraj@visionempowertrust.org::ee70df89-fbc9-4364-93c2-901918c82222" providerId="AD" clId="Web-{6ABEC397-6BD8-707E-B0A6-E3D8E106C515}" dt="2026-08-18T12:55:06.890" v="1"/>
        <pc:sldMkLst>
          <pc:docMk/>
          <pc:sldMk cId="659430911" sldId="322"/>
        </pc:sldMkLst>
      </pc:sldChg>
      <pc:sldChg chg="delSp modSp">
        <pc:chgData name="Yuvaraj PK" userId="S::yuvaraj@visionempowertrust.org::ee70df89-fbc9-4364-93c2-901918c82222" providerId="AD" clId="Web-{6ABEC397-6BD8-707E-B0A6-E3D8E106C515}" dt="2026-08-18T12:55:26.718" v="7"/>
        <pc:sldMkLst>
          <pc:docMk/>
          <pc:sldMk cId="3190727246" sldId="323"/>
        </pc:sldMkLst>
      </pc:sldChg>
      <pc:sldChg chg="delSp modSp">
        <pc:chgData name="Yuvaraj PK" userId="S::yuvaraj@visionempowertrust.org::ee70df89-fbc9-4364-93c2-901918c82222" providerId="AD" clId="Web-{6ABEC397-6BD8-707E-B0A6-E3D8E106C515}" dt="2026-08-18T12:55:31.515" v="9"/>
        <pc:sldMkLst>
          <pc:docMk/>
          <pc:sldMk cId="1552315314" sldId="324"/>
        </pc:sldMkLst>
      </pc:sldChg>
    </pc:docChg>
  </pc:docChgLst>
  <pc:docChgLst>
    <pc:chgData name="Meera Muthukrishnan" userId="S::meera@visionempowertrust.org::d828a7ba-2585-4325-b591-73aa0d8f5866" providerId="AD" clId="Web-{427B1D69-E956-E091-C993-CCC912B2D156}"/>
    <pc:docChg chg="addSld modSld">
      <pc:chgData name="Meera Muthukrishnan" userId="S::meera@visionempowertrust.org::d828a7ba-2585-4325-b591-73aa0d8f5866" providerId="AD" clId="Web-{427B1D69-E956-E091-C993-CCC912B2D156}" dt="2026-09-01T16:55:22.851" v="308"/>
      <pc:docMkLst>
        <pc:docMk/>
      </pc:docMkLst>
      <pc:sldChg chg="addSp">
        <pc:chgData name="Meera Muthukrishnan" userId="S::meera@visionempowertrust.org::d828a7ba-2585-4325-b591-73aa0d8f5866" providerId="AD" clId="Web-{427B1D69-E956-E091-C993-CCC912B2D156}" dt="2026-09-01T16:55:22.851" v="308"/>
        <pc:sldMkLst>
          <pc:docMk/>
          <pc:sldMk cId="698394219" sldId="290"/>
        </pc:sldMkLst>
        <pc:spChg chg="add">
          <ac:chgData name="Meera Muthukrishnan" userId="S::meera@visionempowertrust.org::d828a7ba-2585-4325-b591-73aa0d8f5866" providerId="AD" clId="Web-{427B1D69-E956-E091-C993-CCC912B2D156}" dt="2026-09-01T16:55:22.851" v="308"/>
          <ac:spMkLst>
            <pc:docMk/>
            <pc:sldMk cId="698394219" sldId="290"/>
            <ac:spMk id="3" creationId="{AB3DCA17-06EC-8695-8230-CE2D1583EB49}"/>
          </ac:spMkLst>
        </pc:spChg>
        <pc:picChg chg="add">
          <ac:chgData name="Meera Muthukrishnan" userId="S::meera@visionempowertrust.org::d828a7ba-2585-4325-b591-73aa0d8f5866" providerId="AD" clId="Web-{427B1D69-E956-E091-C993-CCC912B2D156}" dt="2026-09-01T16:55:22.851" v="308"/>
          <ac:picMkLst>
            <pc:docMk/>
            <pc:sldMk cId="698394219" sldId="290"/>
            <ac:picMk id="4" creationId="{8F632B84-A3E8-097F-7CEF-455705C51393}"/>
          </ac:picMkLst>
        </pc:picChg>
        <pc:picChg chg="add">
          <ac:chgData name="Meera Muthukrishnan" userId="S::meera@visionempowertrust.org::d828a7ba-2585-4325-b591-73aa0d8f5866" providerId="AD" clId="Web-{427B1D69-E956-E091-C993-CCC912B2D156}" dt="2026-09-01T16:55:22.851" v="308"/>
          <ac:picMkLst>
            <pc:docMk/>
            <pc:sldMk cId="698394219" sldId="290"/>
            <ac:picMk id="5" creationId="{ACE1CDDB-276E-EFDC-9A71-AE2F576A1A68}"/>
          </ac:picMkLst>
        </pc:picChg>
      </pc:sldChg>
      <pc:sldChg chg="modSp">
        <pc:chgData name="Meera Muthukrishnan" userId="S::meera@visionempowertrust.org::d828a7ba-2585-4325-b591-73aa0d8f5866" providerId="AD" clId="Web-{427B1D69-E956-E091-C993-CCC912B2D156}" dt="2026-09-01T15:56:29.572" v="133" actId="20577"/>
        <pc:sldMkLst>
          <pc:docMk/>
          <pc:sldMk cId="3527140876" sldId="305"/>
        </pc:sldMkLst>
        <pc:spChg chg="mod">
          <ac:chgData name="Meera Muthukrishnan" userId="S::meera@visionempowertrust.org::d828a7ba-2585-4325-b591-73aa0d8f5866" providerId="AD" clId="Web-{427B1D69-E956-E091-C993-CCC912B2D156}" dt="2026-09-01T15:56:29.572" v="133" actId="20577"/>
          <ac:spMkLst>
            <pc:docMk/>
            <pc:sldMk cId="3527140876" sldId="305"/>
            <ac:spMk id="2" creationId="{328E485D-E706-0045-1F6C-5C6B05D64665}"/>
          </ac:spMkLst>
        </pc:spChg>
      </pc:sldChg>
      <pc:sldChg chg="addSp delSp modSp">
        <pc:chgData name="Meera Muthukrishnan" userId="S::meera@visionempowertrust.org::d828a7ba-2585-4325-b591-73aa0d8f5866" providerId="AD" clId="Web-{427B1D69-E956-E091-C993-CCC912B2D156}" dt="2026-09-01T15:38:47.406" v="27" actId="14100"/>
        <pc:sldMkLst>
          <pc:docMk/>
          <pc:sldMk cId="3189162324" sldId="310"/>
        </pc:sldMkLst>
        <pc:spChg chg="mod">
          <ac:chgData name="Meera Muthukrishnan" userId="S::meera@visionempowertrust.org::d828a7ba-2585-4325-b591-73aa0d8f5866" providerId="AD" clId="Web-{427B1D69-E956-E091-C993-CCC912B2D156}" dt="2026-09-01T15:38:47.406" v="27" actId="14100"/>
          <ac:spMkLst>
            <pc:docMk/>
            <pc:sldMk cId="3189162324" sldId="310"/>
            <ac:spMk id="3" creationId="{08FB7A8F-86FB-2A8E-C214-609D0A9623D3}"/>
          </ac:spMkLst>
        </pc:spChg>
      </pc:sldChg>
      <pc:sldChg chg="modSp">
        <pc:chgData name="Meera Muthukrishnan" userId="S::meera@visionempowertrust.org::d828a7ba-2585-4325-b591-73aa0d8f5866" providerId="AD" clId="Web-{427B1D69-E956-E091-C993-CCC912B2D156}" dt="2026-09-01T16:00:22.621" v="163" actId="20577"/>
        <pc:sldMkLst>
          <pc:docMk/>
          <pc:sldMk cId="2275464794" sldId="325"/>
        </pc:sldMkLst>
        <pc:spChg chg="mod">
          <ac:chgData name="Meera Muthukrishnan" userId="S::meera@visionempowertrust.org::d828a7ba-2585-4325-b591-73aa0d8f5866" providerId="AD" clId="Web-{427B1D69-E956-E091-C993-CCC912B2D156}" dt="2026-09-01T16:00:22.621" v="163" actId="20577"/>
          <ac:spMkLst>
            <pc:docMk/>
            <pc:sldMk cId="2275464794" sldId="325"/>
            <ac:spMk id="3" creationId="{8C97FCCD-E84C-CBB1-F215-16842F5B4432}"/>
          </ac:spMkLst>
        </pc:spChg>
      </pc:sldChg>
      <pc:sldChg chg="modSp new modNotes">
        <pc:chgData name="Meera Muthukrishnan" userId="S::meera@visionempowertrust.org::d828a7ba-2585-4325-b591-73aa0d8f5866" providerId="AD" clId="Web-{427B1D69-E956-E091-C993-CCC912B2D156}" dt="2026-09-01T16:42:59.371" v="307"/>
        <pc:sldMkLst>
          <pc:docMk/>
          <pc:sldMk cId="907765373" sldId="327"/>
        </pc:sldMkLst>
        <pc:spChg chg="mod">
          <ac:chgData name="Meera Muthukrishnan" userId="S::meera@visionempowertrust.org::d828a7ba-2585-4325-b591-73aa0d8f5866" providerId="AD" clId="Web-{427B1D69-E956-E091-C993-CCC912B2D156}" dt="2026-09-01T16:42:44.356" v="291" actId="20577"/>
          <ac:spMkLst>
            <pc:docMk/>
            <pc:sldMk cId="907765373" sldId="327"/>
            <ac:spMk id="2" creationId="{AD90B68A-F2F4-B81B-74E6-91C4D3BD866E}"/>
          </ac:spMkLst>
        </pc:spChg>
        <pc:spChg chg="mod">
          <ac:chgData name="Meera Muthukrishnan" userId="S::meera@visionempowertrust.org::d828a7ba-2585-4325-b591-73aa0d8f5866" providerId="AD" clId="Web-{427B1D69-E956-E091-C993-CCC912B2D156}" dt="2026-09-01T16:14:01.316" v="222" actId="20577"/>
          <ac:spMkLst>
            <pc:docMk/>
            <pc:sldMk cId="907765373" sldId="327"/>
            <ac:spMk id="3" creationId="{151E5822-0C4B-B2DA-48FC-8A84EDCF72C8}"/>
          </ac:spMkLst>
        </pc:spChg>
      </pc:sldChg>
      <pc:sldChg chg="modSp new">
        <pc:chgData name="Meera Muthukrishnan" userId="S::meera@visionempowertrust.org::d828a7ba-2585-4325-b591-73aa0d8f5866" providerId="AD" clId="Web-{427B1D69-E956-E091-C993-CCC912B2D156}" dt="2026-09-01T15:52:33.414" v="130" actId="20577"/>
        <pc:sldMkLst>
          <pc:docMk/>
          <pc:sldMk cId="1255476082" sldId="328"/>
        </pc:sldMkLst>
        <pc:spChg chg="mod">
          <ac:chgData name="Meera Muthukrishnan" userId="S::meera@visionempowertrust.org::d828a7ba-2585-4325-b591-73aa0d8f5866" providerId="AD" clId="Web-{427B1D69-E956-E091-C993-CCC912B2D156}" dt="2026-09-01T15:39:15.562" v="41" actId="20577"/>
          <ac:spMkLst>
            <pc:docMk/>
            <pc:sldMk cId="1255476082" sldId="328"/>
            <ac:spMk id="2" creationId="{5D480C2A-622A-EECE-7EF2-D21EF905F731}"/>
          </ac:spMkLst>
        </pc:spChg>
        <pc:spChg chg="mod">
          <ac:chgData name="Meera Muthukrishnan" userId="S::meera@visionempowertrust.org::d828a7ba-2585-4325-b591-73aa0d8f5866" providerId="AD" clId="Web-{427B1D69-E956-E091-C993-CCC912B2D156}" dt="2026-09-01T15:52:33.414" v="130" actId="20577"/>
          <ac:spMkLst>
            <pc:docMk/>
            <pc:sldMk cId="1255476082" sldId="328"/>
            <ac:spMk id="3" creationId="{FA26CCF9-A25D-63FA-B36E-83AEE2149148}"/>
          </ac:spMkLst>
        </pc:spChg>
      </pc:sldChg>
      <pc:sldChg chg="addSp delSp modSp new">
        <pc:chgData name="Meera Muthukrishnan" userId="S::meera@visionempowertrust.org::d828a7ba-2585-4325-b591-73aa0d8f5866" providerId="AD" clId="Web-{427B1D69-E956-E091-C993-CCC912B2D156}" dt="2026-09-01T16:02:23.637" v="210" actId="14100"/>
        <pc:sldMkLst>
          <pc:docMk/>
          <pc:sldMk cId="2832651535" sldId="329"/>
        </pc:sldMkLst>
        <pc:spChg chg="mod">
          <ac:chgData name="Meera Muthukrishnan" userId="S::meera@visionempowertrust.org::d828a7ba-2585-4325-b591-73aa0d8f5866" providerId="AD" clId="Web-{427B1D69-E956-E091-C993-CCC912B2D156}" dt="2026-09-01T16:00:40.761" v="177" actId="20577"/>
          <ac:spMkLst>
            <pc:docMk/>
            <pc:sldMk cId="2832651535" sldId="329"/>
            <ac:spMk id="2" creationId="{378C7088-225E-B826-DE17-884DD8F9B452}"/>
          </ac:spMkLst>
        </pc:spChg>
        <pc:spChg chg="add mod">
          <ac:chgData name="Meera Muthukrishnan" userId="S::meera@visionempowertrust.org::d828a7ba-2585-4325-b591-73aa0d8f5866" providerId="AD" clId="Web-{427B1D69-E956-E091-C993-CCC912B2D156}" dt="2026-09-01T16:01:58.622" v="191" actId="20577"/>
          <ac:spMkLst>
            <pc:docMk/>
            <pc:sldMk cId="2832651535" sldId="329"/>
            <ac:spMk id="6" creationId="{7C36A3C5-8181-76A4-9538-FC9104C9E3F4}"/>
          </ac:spMkLst>
        </pc:spChg>
        <pc:spChg chg="add mod">
          <ac:chgData name="Meera Muthukrishnan" userId="S::meera@visionempowertrust.org::d828a7ba-2585-4325-b591-73aa0d8f5866" providerId="AD" clId="Web-{427B1D69-E956-E091-C993-CCC912B2D156}" dt="2026-09-01T16:02:23.637" v="210" actId="14100"/>
          <ac:spMkLst>
            <pc:docMk/>
            <pc:sldMk cId="2832651535" sldId="329"/>
            <ac:spMk id="7" creationId="{3163AD86-4A0E-EF2B-51E3-0ECC7028F49B}"/>
          </ac:spMkLst>
        </pc:spChg>
        <pc:picChg chg="add mod">
          <ac:chgData name="Meera Muthukrishnan" userId="S::meera@visionempowertrust.org::d828a7ba-2585-4325-b591-73aa0d8f5866" providerId="AD" clId="Web-{427B1D69-E956-E091-C993-CCC912B2D156}" dt="2026-09-01T16:01:29.918" v="183" actId="14100"/>
          <ac:picMkLst>
            <pc:docMk/>
            <pc:sldMk cId="2832651535" sldId="329"/>
            <ac:picMk id="4" creationId="{4CAC6921-9BAA-BF70-42E5-E345237E1400}"/>
          </ac:picMkLst>
        </pc:picChg>
        <pc:picChg chg="add mod">
          <ac:chgData name="Meera Muthukrishnan" userId="S::meera@visionempowertrust.org::d828a7ba-2585-4325-b591-73aa0d8f5866" providerId="AD" clId="Web-{427B1D69-E956-E091-C993-CCC912B2D156}" dt="2026-09-01T16:01:46.246" v="185" actId="1076"/>
          <ac:picMkLst>
            <pc:docMk/>
            <pc:sldMk cId="2832651535" sldId="329"/>
            <ac:picMk id="5" creationId="{A9CCE029-B883-B908-C6B7-8E2FD22D67F3}"/>
          </ac:picMkLst>
        </pc:picChg>
      </pc:sldChg>
      <pc:sldChg chg="addSp delSp modSp add replId">
        <pc:chgData name="Meera Muthukrishnan" userId="S::meera@visionempowertrust.org::d828a7ba-2585-4325-b591-73aa0d8f5866" providerId="AD" clId="Web-{427B1D69-E956-E091-C993-CCC912B2D156}" dt="2026-09-01T16:15:04.567" v="266" actId="1076"/>
        <pc:sldMkLst>
          <pc:docMk/>
          <pc:sldMk cId="2759380467" sldId="330"/>
        </pc:sldMkLst>
        <pc:spChg chg="mod">
          <ac:chgData name="Meera Muthukrishnan" userId="S::meera@visionempowertrust.org::d828a7ba-2585-4325-b591-73aa0d8f5866" providerId="AD" clId="Web-{427B1D69-E956-E091-C993-CCC912B2D156}" dt="2026-09-01T16:15:04.567" v="266" actId="1076"/>
          <ac:spMkLst>
            <pc:docMk/>
            <pc:sldMk cId="2759380467" sldId="330"/>
            <ac:spMk id="2" creationId="{67774961-1F8E-0CB6-B2AD-E6348CE8267E}"/>
          </ac:spMkLst>
        </pc:spChg>
      </pc:sldChg>
    </pc:docChg>
  </pc:docChgLst>
  <pc:docChgLst>
    <pc:chgData name="Meera Muthukrishnan" userId="S::meera@visionempowertrust.org::d828a7ba-2585-4325-b591-73aa0d8f5866" providerId="AD" clId="Web-{4D1B4E68-FE28-81CC-8495-0BB0A25D1B91}"/>
    <pc:docChg chg="addSld modSld">
      <pc:chgData name="Meera Muthukrishnan" userId="S::meera@visionempowertrust.org::d828a7ba-2585-4325-b591-73aa0d8f5866" providerId="AD" clId="Web-{4D1B4E68-FE28-81CC-8495-0BB0A25D1B91}" dt="2026-09-08T01:55:44.585" v="53" actId="20577"/>
      <pc:docMkLst>
        <pc:docMk/>
      </pc:docMkLst>
      <pc:sldChg chg="modSp">
        <pc:chgData name="Meera Muthukrishnan" userId="S::meera@visionempowertrust.org::d828a7ba-2585-4325-b591-73aa0d8f5866" providerId="AD" clId="Web-{4D1B4E68-FE28-81CC-8495-0BB0A25D1B91}" dt="2026-09-07T11:19:29.401" v="36" actId="20577"/>
        <pc:sldMkLst>
          <pc:docMk/>
          <pc:sldMk cId="1479565106" sldId="257"/>
        </pc:sldMkLst>
        <pc:spChg chg="mod">
          <ac:chgData name="Meera Muthukrishnan" userId="S::meera@visionempowertrust.org::d828a7ba-2585-4325-b591-73aa0d8f5866" providerId="AD" clId="Web-{4D1B4E68-FE28-81CC-8495-0BB0A25D1B91}" dt="2026-09-07T11:19:29.401" v="36" actId="20577"/>
          <ac:spMkLst>
            <pc:docMk/>
            <pc:sldMk cId="1479565106" sldId="257"/>
            <ac:spMk id="3" creationId="{0A37B741-42E9-DA37-7642-16595A6D170B}"/>
          </ac:spMkLst>
        </pc:spChg>
      </pc:sldChg>
      <pc:sldChg chg="modSp">
        <pc:chgData name="Meera Muthukrishnan" userId="S::meera@visionempowertrust.org::d828a7ba-2585-4325-b591-73aa0d8f5866" providerId="AD" clId="Web-{4D1B4E68-FE28-81CC-8495-0BB0A25D1B91}" dt="2026-09-07T15:38:54.694" v="38" actId="20577"/>
        <pc:sldMkLst>
          <pc:docMk/>
          <pc:sldMk cId="3317847567" sldId="313"/>
        </pc:sldMkLst>
        <pc:spChg chg="mod">
          <ac:chgData name="Meera Muthukrishnan" userId="S::meera@visionempowertrust.org::d828a7ba-2585-4325-b591-73aa0d8f5866" providerId="AD" clId="Web-{4D1B4E68-FE28-81CC-8495-0BB0A25D1B91}" dt="2026-09-07T15:38:54.694" v="38" actId="20577"/>
          <ac:spMkLst>
            <pc:docMk/>
            <pc:sldMk cId="3317847567" sldId="313"/>
            <ac:spMk id="3" creationId="{C5E146AD-95F2-85F1-1CA7-2F9FAB67006A}"/>
          </ac:spMkLst>
        </pc:spChg>
      </pc:sldChg>
      <pc:sldChg chg="modSp">
        <pc:chgData name="Meera Muthukrishnan" userId="S::meera@visionempowertrust.org::d828a7ba-2585-4325-b591-73aa0d8f5866" providerId="AD" clId="Web-{4D1B4E68-FE28-81CC-8495-0BB0A25D1B91}" dt="2026-09-07T15:39:10.913" v="46" actId="20577"/>
        <pc:sldMkLst>
          <pc:docMk/>
          <pc:sldMk cId="2991156870" sldId="319"/>
        </pc:sldMkLst>
        <pc:spChg chg="mod">
          <ac:chgData name="Meera Muthukrishnan" userId="S::meera@visionempowertrust.org::d828a7ba-2585-4325-b591-73aa0d8f5866" providerId="AD" clId="Web-{4D1B4E68-FE28-81CC-8495-0BB0A25D1B91}" dt="2026-09-07T15:39:10.913" v="46" actId="20577"/>
          <ac:spMkLst>
            <pc:docMk/>
            <pc:sldMk cId="2991156870" sldId="319"/>
            <ac:spMk id="2" creationId="{2E8EC629-3E1C-C99C-853F-C7E549008AA0}"/>
          </ac:spMkLst>
        </pc:spChg>
      </pc:sldChg>
      <pc:sldChg chg="modSp">
        <pc:chgData name="Meera Muthukrishnan" userId="S::meera@visionempowertrust.org::d828a7ba-2585-4325-b591-73aa0d8f5866" providerId="AD" clId="Web-{4D1B4E68-FE28-81CC-8495-0BB0A25D1B91}" dt="2026-09-08T01:55:44.585" v="53" actId="20577"/>
        <pc:sldMkLst>
          <pc:docMk/>
          <pc:sldMk cId="907765373" sldId="327"/>
        </pc:sldMkLst>
        <pc:spChg chg="mod">
          <ac:chgData name="Meera Muthukrishnan" userId="S::meera@visionempowertrust.org::d828a7ba-2585-4325-b591-73aa0d8f5866" providerId="AD" clId="Web-{4D1B4E68-FE28-81CC-8495-0BB0A25D1B91}" dt="2026-09-08T01:55:44.585" v="53" actId="20577"/>
          <ac:spMkLst>
            <pc:docMk/>
            <pc:sldMk cId="907765373" sldId="327"/>
            <ac:spMk id="2" creationId="{AD90B68A-F2F4-B81B-74E6-91C4D3BD866E}"/>
          </ac:spMkLst>
        </pc:spChg>
      </pc:sldChg>
      <pc:sldChg chg="add mod modShow">
        <pc:chgData name="Meera Muthukrishnan" userId="S::meera@visionempowertrust.org::d828a7ba-2585-4325-b591-73aa0d8f5866" providerId="AD" clId="Web-{4D1B4E68-FE28-81CC-8495-0BB0A25D1B91}" dt="2026-09-08T01:53:00.898" v="48"/>
        <pc:sldMkLst>
          <pc:docMk/>
          <pc:sldMk cId="2438893627" sldId="33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5FE957-5B56-4740-AD7D-7791C87FF48F}" type="doc">
      <dgm:prSet loTypeId="urn:microsoft.com/office/officeart/2005/8/layout/hProcess9" loCatId="process" qsTypeId="urn:microsoft.com/office/officeart/2005/8/quickstyle/simple1#1" qsCatId="simple" csTypeId="urn:microsoft.com/office/officeart/2005/8/colors/accent1_2#1" csCatId="accent1" phldr="1"/>
      <dgm:spPr/>
    </dgm:pt>
    <dgm:pt modelId="{9406A6ED-1602-4665-8598-ABCA4989AD16}">
      <dgm:prSet custT="1"/>
      <dgm:spPr/>
      <dgm:t>
        <a:bodyPr/>
        <a:lstStyle/>
        <a:p>
          <a:pPr>
            <a:buNone/>
          </a:pPr>
          <a:r>
            <a:rPr lang="en-US" sz="1400" b="1"/>
            <a:t>1. Input</a:t>
          </a:r>
          <a:endParaRPr lang="en-US" sz="1400"/>
        </a:p>
      </dgm:t>
    </dgm:pt>
    <dgm:pt modelId="{0820EACD-387C-4FAC-BBF1-8AD2D8452AED}" type="parTrans" cxnId="{9193DA54-B864-4862-9D7F-5BD27600A9AC}">
      <dgm:prSet/>
      <dgm:spPr/>
      <dgm:t>
        <a:bodyPr/>
        <a:lstStyle/>
        <a:p>
          <a:endParaRPr lang="en-US"/>
        </a:p>
      </dgm:t>
    </dgm:pt>
    <dgm:pt modelId="{9BACE52A-86BB-4817-AC53-5CE121F40B4A}" type="sibTrans" cxnId="{9193DA54-B864-4862-9D7F-5BD27600A9AC}">
      <dgm:prSet/>
      <dgm:spPr/>
      <dgm:t>
        <a:bodyPr/>
        <a:lstStyle/>
        <a:p>
          <a:endParaRPr lang="en-US"/>
        </a:p>
      </dgm:t>
    </dgm:pt>
    <dgm:pt modelId="{E45BD0D2-25DE-4923-AF69-11F073C7E55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000"/>
            <a:t>Photos </a:t>
          </a:r>
        </a:p>
      </dgm:t>
    </dgm:pt>
    <dgm:pt modelId="{90E132C9-765C-43A1-883D-E21E6552371B}" type="parTrans" cxnId="{4332BB60-4AE8-4A0C-BDC1-D232BA11D919}">
      <dgm:prSet/>
      <dgm:spPr/>
      <dgm:t>
        <a:bodyPr/>
        <a:lstStyle/>
        <a:p>
          <a:endParaRPr lang="en-US"/>
        </a:p>
      </dgm:t>
    </dgm:pt>
    <dgm:pt modelId="{20BA9044-8D44-4BC1-B86A-E0D2C4585CD1}" type="sibTrans" cxnId="{4332BB60-4AE8-4A0C-BDC1-D232BA11D919}">
      <dgm:prSet/>
      <dgm:spPr/>
      <dgm:t>
        <a:bodyPr/>
        <a:lstStyle/>
        <a:p>
          <a:endParaRPr lang="en-US"/>
        </a:p>
      </dgm:t>
    </dgm:pt>
    <dgm:pt modelId="{2DEE2941-12A3-462E-99E1-A7F91063701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000"/>
            <a:t>Text </a:t>
          </a:r>
        </a:p>
      </dgm:t>
    </dgm:pt>
    <dgm:pt modelId="{EDCBC872-1271-40A7-8087-5457687855E1}" type="parTrans" cxnId="{AD716D92-8056-4ED9-BA43-2423F3929CB0}">
      <dgm:prSet/>
      <dgm:spPr/>
      <dgm:t>
        <a:bodyPr/>
        <a:lstStyle/>
        <a:p>
          <a:endParaRPr lang="en-US"/>
        </a:p>
      </dgm:t>
    </dgm:pt>
    <dgm:pt modelId="{090481D0-955F-4AAC-85ED-639ACD75C1CB}" type="sibTrans" cxnId="{AD716D92-8056-4ED9-BA43-2423F3929CB0}">
      <dgm:prSet/>
      <dgm:spPr/>
      <dgm:t>
        <a:bodyPr/>
        <a:lstStyle/>
        <a:p>
          <a:endParaRPr lang="en-US"/>
        </a:p>
      </dgm:t>
    </dgm:pt>
    <dgm:pt modelId="{B5984EDB-509B-400F-AA4B-DC25AD9615E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000"/>
            <a:t>Numbers </a:t>
          </a:r>
        </a:p>
      </dgm:t>
    </dgm:pt>
    <dgm:pt modelId="{2DFBBD7C-105C-46E1-9B56-FDFC5ECF7F9C}" type="parTrans" cxnId="{27FDCFE3-5F95-4B56-8955-A442E3FF40D9}">
      <dgm:prSet/>
      <dgm:spPr/>
      <dgm:t>
        <a:bodyPr/>
        <a:lstStyle/>
        <a:p>
          <a:endParaRPr lang="en-US"/>
        </a:p>
      </dgm:t>
    </dgm:pt>
    <dgm:pt modelId="{A26E1262-1F83-430D-8207-B0E637FC98CE}" type="sibTrans" cxnId="{27FDCFE3-5F95-4B56-8955-A442E3FF40D9}">
      <dgm:prSet/>
      <dgm:spPr/>
      <dgm:t>
        <a:bodyPr/>
        <a:lstStyle/>
        <a:p>
          <a:endParaRPr lang="en-US"/>
        </a:p>
      </dgm:t>
    </dgm:pt>
    <dgm:pt modelId="{3811DEB8-E0CB-4814-9B7D-D7AF15A6FF72}">
      <dgm:prSet custT="1"/>
      <dgm:spPr/>
      <dgm:t>
        <a:bodyPr/>
        <a:lstStyle/>
        <a:p>
          <a:pPr>
            <a:buNone/>
          </a:pPr>
          <a:r>
            <a:rPr lang="en-US" sz="1400" b="1"/>
            <a:t>2. Train</a:t>
          </a:r>
          <a:endParaRPr lang="en-US" sz="1400"/>
        </a:p>
      </dgm:t>
    </dgm:pt>
    <dgm:pt modelId="{552259F2-2A62-4FC5-9DA7-40FF54613F9E}" type="parTrans" cxnId="{1DE19AB0-35A3-4CCD-B1C2-BDD731E88417}">
      <dgm:prSet/>
      <dgm:spPr/>
      <dgm:t>
        <a:bodyPr/>
        <a:lstStyle/>
        <a:p>
          <a:endParaRPr lang="en-US"/>
        </a:p>
      </dgm:t>
    </dgm:pt>
    <dgm:pt modelId="{C74440EA-F93C-447A-B20B-87ED021756F7}" type="sibTrans" cxnId="{1DE19AB0-35A3-4CCD-B1C2-BDD731E88417}">
      <dgm:prSet/>
      <dgm:spPr/>
      <dgm:t>
        <a:bodyPr/>
        <a:lstStyle/>
        <a:p>
          <a:endParaRPr lang="en-US"/>
        </a:p>
      </dgm:t>
    </dgm:pt>
    <dgm:pt modelId="{ED40D5E7-8519-4D15-936A-D3B269965E8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000"/>
            <a:t>Algorithm finds patterns </a:t>
          </a:r>
        </a:p>
      </dgm:t>
    </dgm:pt>
    <dgm:pt modelId="{BCE71597-6D4B-4EEA-92B0-D7259661C07F}" type="parTrans" cxnId="{FA50CDEC-4AE6-4865-9046-47F28A966DF2}">
      <dgm:prSet/>
      <dgm:spPr/>
      <dgm:t>
        <a:bodyPr/>
        <a:lstStyle/>
        <a:p>
          <a:endParaRPr lang="en-US"/>
        </a:p>
      </dgm:t>
    </dgm:pt>
    <dgm:pt modelId="{DFB66FA5-8F14-4819-99C2-0E9221CC5BB6}" type="sibTrans" cxnId="{FA50CDEC-4AE6-4865-9046-47F28A966DF2}">
      <dgm:prSet/>
      <dgm:spPr/>
      <dgm:t>
        <a:bodyPr/>
        <a:lstStyle/>
        <a:p>
          <a:endParaRPr lang="en-US"/>
        </a:p>
      </dgm:t>
    </dgm:pt>
    <dgm:pt modelId="{184A4145-51F0-483E-9311-A831C4C33630}">
      <dgm:prSet custT="1"/>
      <dgm:spPr/>
      <dgm:t>
        <a:bodyPr/>
        <a:lstStyle/>
        <a:p>
          <a:pPr>
            <a:buNone/>
          </a:pPr>
          <a:r>
            <a:rPr lang="en-US" sz="1400" b="1"/>
            <a:t>3. Predict</a:t>
          </a:r>
          <a:endParaRPr lang="en-US" sz="1400"/>
        </a:p>
      </dgm:t>
    </dgm:pt>
    <dgm:pt modelId="{C99A1193-CAF4-48AE-A933-170C15E6AD03}" type="parTrans" cxnId="{8316B0B9-FA44-4CC2-BB5F-D2D020E6E623}">
      <dgm:prSet/>
      <dgm:spPr/>
      <dgm:t>
        <a:bodyPr/>
        <a:lstStyle/>
        <a:p>
          <a:endParaRPr lang="en-US"/>
        </a:p>
      </dgm:t>
    </dgm:pt>
    <dgm:pt modelId="{E9213695-7304-4B43-85AF-CAAC73EB0B80}" type="sibTrans" cxnId="{8316B0B9-FA44-4CC2-BB5F-D2D020E6E623}">
      <dgm:prSet/>
      <dgm:spPr/>
      <dgm:t>
        <a:bodyPr/>
        <a:lstStyle/>
        <a:p>
          <a:endParaRPr lang="en-US"/>
        </a:p>
      </dgm:t>
    </dgm:pt>
    <dgm:pt modelId="{D7A75291-CA31-4168-A4A3-C3F8B751637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000"/>
            <a:t>New Data → Decision </a:t>
          </a:r>
        </a:p>
      </dgm:t>
    </dgm:pt>
    <dgm:pt modelId="{7687B92F-9B3C-4B1B-9248-2EC4EE1467C2}" type="parTrans" cxnId="{A7FB3F40-9BF5-475B-92BE-8364430C3604}">
      <dgm:prSet/>
      <dgm:spPr/>
      <dgm:t>
        <a:bodyPr/>
        <a:lstStyle/>
        <a:p>
          <a:endParaRPr lang="en-US"/>
        </a:p>
      </dgm:t>
    </dgm:pt>
    <dgm:pt modelId="{08281713-22C6-48D3-8BD7-9B8F5CF09DF5}" type="sibTrans" cxnId="{A7FB3F40-9BF5-475B-92BE-8364430C3604}">
      <dgm:prSet/>
      <dgm:spPr/>
      <dgm:t>
        <a:bodyPr/>
        <a:lstStyle/>
        <a:p>
          <a:endParaRPr lang="en-US"/>
        </a:p>
      </dgm:t>
    </dgm:pt>
    <dgm:pt modelId="{2CC5404C-D7B9-4E35-8333-2515FAE2FB93}" type="pres">
      <dgm:prSet presAssocID="{455FE957-5B56-4740-AD7D-7791C87FF48F}" presName="CompostProcess" presStyleCnt="0">
        <dgm:presLayoutVars>
          <dgm:dir/>
          <dgm:resizeHandles val="exact"/>
        </dgm:presLayoutVars>
      </dgm:prSet>
      <dgm:spPr/>
    </dgm:pt>
    <dgm:pt modelId="{BFF41791-8F79-42FC-B7F6-A1D6ACF72483}" type="pres">
      <dgm:prSet presAssocID="{455FE957-5B56-4740-AD7D-7791C87FF48F}" presName="arrow" presStyleLbl="bgShp" presStyleIdx="0" presStyleCnt="1" custLinFactY="82149" custLinFactNeighborX="19771" custLinFactNeighborY="100000"/>
      <dgm:spPr/>
    </dgm:pt>
    <dgm:pt modelId="{BDD93E1B-5031-4E8E-9D03-78A55F378854}" type="pres">
      <dgm:prSet presAssocID="{455FE957-5B56-4740-AD7D-7791C87FF48F}" presName="linearProcess" presStyleCnt="0"/>
      <dgm:spPr/>
    </dgm:pt>
    <dgm:pt modelId="{7E57F88C-7417-4857-A7ED-496D07CD6A25}" type="pres">
      <dgm:prSet presAssocID="{9406A6ED-1602-4665-8598-ABCA4989AD16}" presName="textNode" presStyleLbl="node1" presStyleIdx="0" presStyleCnt="3">
        <dgm:presLayoutVars>
          <dgm:bulletEnabled val="1"/>
        </dgm:presLayoutVars>
      </dgm:prSet>
      <dgm:spPr/>
    </dgm:pt>
    <dgm:pt modelId="{02E2C9D6-9477-4BF5-851B-6D751D055D77}" type="pres">
      <dgm:prSet presAssocID="{9BACE52A-86BB-4817-AC53-5CE121F40B4A}" presName="sibTrans" presStyleCnt="0"/>
      <dgm:spPr/>
    </dgm:pt>
    <dgm:pt modelId="{EDE07701-8EA9-4197-9FAC-51CD5BD79368}" type="pres">
      <dgm:prSet presAssocID="{3811DEB8-E0CB-4814-9B7D-D7AF15A6FF72}" presName="textNode" presStyleLbl="node1" presStyleIdx="1" presStyleCnt="3">
        <dgm:presLayoutVars>
          <dgm:bulletEnabled val="1"/>
        </dgm:presLayoutVars>
      </dgm:prSet>
      <dgm:spPr/>
    </dgm:pt>
    <dgm:pt modelId="{213A4BFF-26A5-43FF-9E14-5A4B2FFC2FD5}" type="pres">
      <dgm:prSet presAssocID="{C74440EA-F93C-447A-B20B-87ED021756F7}" presName="sibTrans" presStyleCnt="0"/>
      <dgm:spPr/>
    </dgm:pt>
    <dgm:pt modelId="{F7BE77AF-0E0D-48B0-BF13-900D28490B01}" type="pres">
      <dgm:prSet presAssocID="{184A4145-51F0-483E-9311-A831C4C33630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D4149B1A-F660-482A-B6FE-C239EFB9ADBB}" type="presOf" srcId="{B5984EDB-509B-400F-AA4B-DC25AD9615E3}" destId="{7E57F88C-7417-4857-A7ED-496D07CD6A25}" srcOrd="0" destOrd="3" presId="urn:microsoft.com/office/officeart/2005/8/layout/hProcess9"/>
    <dgm:cxn modelId="{D667D51B-8B63-4145-BE66-2A4ADBCA1F47}" type="presOf" srcId="{E45BD0D2-25DE-4923-AF69-11F073C7E55E}" destId="{7E57F88C-7417-4857-A7ED-496D07CD6A25}" srcOrd="0" destOrd="1" presId="urn:microsoft.com/office/officeart/2005/8/layout/hProcess9"/>
    <dgm:cxn modelId="{09DB851E-E8B4-4A05-BAE5-E903280E1A1F}" type="presOf" srcId="{ED40D5E7-8519-4D15-936A-D3B269965E8C}" destId="{EDE07701-8EA9-4197-9FAC-51CD5BD79368}" srcOrd="0" destOrd="1" presId="urn:microsoft.com/office/officeart/2005/8/layout/hProcess9"/>
    <dgm:cxn modelId="{6308763C-B384-4AE8-8601-04EA42E6558B}" type="presOf" srcId="{455FE957-5B56-4740-AD7D-7791C87FF48F}" destId="{2CC5404C-D7B9-4E35-8333-2515FAE2FB93}" srcOrd="0" destOrd="0" presId="urn:microsoft.com/office/officeart/2005/8/layout/hProcess9"/>
    <dgm:cxn modelId="{A7FB3F40-9BF5-475B-92BE-8364430C3604}" srcId="{184A4145-51F0-483E-9311-A831C4C33630}" destId="{D7A75291-CA31-4168-A4A3-C3F8B7516370}" srcOrd="0" destOrd="0" parTransId="{7687B92F-9B3C-4B1B-9248-2EC4EE1467C2}" sibTransId="{08281713-22C6-48D3-8BD7-9B8F5CF09DF5}"/>
    <dgm:cxn modelId="{A961745C-315A-44E4-B0D9-140145E8D09F}" type="presOf" srcId="{9406A6ED-1602-4665-8598-ABCA4989AD16}" destId="{7E57F88C-7417-4857-A7ED-496D07CD6A25}" srcOrd="0" destOrd="0" presId="urn:microsoft.com/office/officeart/2005/8/layout/hProcess9"/>
    <dgm:cxn modelId="{4332BB60-4AE8-4A0C-BDC1-D232BA11D919}" srcId="{9406A6ED-1602-4665-8598-ABCA4989AD16}" destId="{E45BD0D2-25DE-4923-AF69-11F073C7E55E}" srcOrd="0" destOrd="0" parTransId="{90E132C9-765C-43A1-883D-E21E6552371B}" sibTransId="{20BA9044-8D44-4BC1-B86A-E0D2C4585CD1}"/>
    <dgm:cxn modelId="{9193DA54-B864-4862-9D7F-5BD27600A9AC}" srcId="{455FE957-5B56-4740-AD7D-7791C87FF48F}" destId="{9406A6ED-1602-4665-8598-ABCA4989AD16}" srcOrd="0" destOrd="0" parTransId="{0820EACD-387C-4FAC-BBF1-8AD2D8452AED}" sibTransId="{9BACE52A-86BB-4817-AC53-5CE121F40B4A}"/>
    <dgm:cxn modelId="{6ED79380-6337-4422-87F2-498F4BE78101}" type="presOf" srcId="{D7A75291-CA31-4168-A4A3-C3F8B7516370}" destId="{F7BE77AF-0E0D-48B0-BF13-900D28490B01}" srcOrd="0" destOrd="1" presId="urn:microsoft.com/office/officeart/2005/8/layout/hProcess9"/>
    <dgm:cxn modelId="{6E9E5285-A411-4AD3-B3A6-BDA2DCC767EE}" type="presOf" srcId="{2DEE2941-12A3-462E-99E1-A7F910637013}" destId="{7E57F88C-7417-4857-A7ED-496D07CD6A25}" srcOrd="0" destOrd="2" presId="urn:microsoft.com/office/officeart/2005/8/layout/hProcess9"/>
    <dgm:cxn modelId="{AD716D92-8056-4ED9-BA43-2423F3929CB0}" srcId="{9406A6ED-1602-4665-8598-ABCA4989AD16}" destId="{2DEE2941-12A3-462E-99E1-A7F910637013}" srcOrd="1" destOrd="0" parTransId="{EDCBC872-1271-40A7-8087-5457687855E1}" sibTransId="{090481D0-955F-4AAC-85ED-639ACD75C1CB}"/>
    <dgm:cxn modelId="{D055CC9C-8BEF-496A-A154-2A9D59132CC1}" type="presOf" srcId="{184A4145-51F0-483E-9311-A831C4C33630}" destId="{F7BE77AF-0E0D-48B0-BF13-900D28490B01}" srcOrd="0" destOrd="0" presId="urn:microsoft.com/office/officeart/2005/8/layout/hProcess9"/>
    <dgm:cxn modelId="{738328AB-FD48-4CEE-83C3-EB0776D245CF}" type="presOf" srcId="{3811DEB8-E0CB-4814-9B7D-D7AF15A6FF72}" destId="{EDE07701-8EA9-4197-9FAC-51CD5BD79368}" srcOrd="0" destOrd="0" presId="urn:microsoft.com/office/officeart/2005/8/layout/hProcess9"/>
    <dgm:cxn modelId="{1DE19AB0-35A3-4CCD-B1C2-BDD731E88417}" srcId="{455FE957-5B56-4740-AD7D-7791C87FF48F}" destId="{3811DEB8-E0CB-4814-9B7D-D7AF15A6FF72}" srcOrd="1" destOrd="0" parTransId="{552259F2-2A62-4FC5-9DA7-40FF54613F9E}" sibTransId="{C74440EA-F93C-447A-B20B-87ED021756F7}"/>
    <dgm:cxn modelId="{8316B0B9-FA44-4CC2-BB5F-D2D020E6E623}" srcId="{455FE957-5B56-4740-AD7D-7791C87FF48F}" destId="{184A4145-51F0-483E-9311-A831C4C33630}" srcOrd="2" destOrd="0" parTransId="{C99A1193-CAF4-48AE-A933-170C15E6AD03}" sibTransId="{E9213695-7304-4B43-85AF-CAAC73EB0B80}"/>
    <dgm:cxn modelId="{27FDCFE3-5F95-4B56-8955-A442E3FF40D9}" srcId="{9406A6ED-1602-4665-8598-ABCA4989AD16}" destId="{B5984EDB-509B-400F-AA4B-DC25AD9615E3}" srcOrd="2" destOrd="0" parTransId="{2DFBBD7C-105C-46E1-9B56-FDFC5ECF7F9C}" sibTransId="{A26E1262-1F83-430D-8207-B0E637FC98CE}"/>
    <dgm:cxn modelId="{FA50CDEC-4AE6-4865-9046-47F28A966DF2}" srcId="{3811DEB8-E0CB-4814-9B7D-D7AF15A6FF72}" destId="{ED40D5E7-8519-4D15-936A-D3B269965E8C}" srcOrd="0" destOrd="0" parTransId="{BCE71597-6D4B-4EEA-92B0-D7259661C07F}" sibTransId="{DFB66FA5-8F14-4819-99C2-0E9221CC5BB6}"/>
    <dgm:cxn modelId="{B0C63E82-2368-4B9E-AF31-9917704AB869}" type="presParOf" srcId="{2CC5404C-D7B9-4E35-8333-2515FAE2FB93}" destId="{BFF41791-8F79-42FC-B7F6-A1D6ACF72483}" srcOrd="0" destOrd="0" presId="urn:microsoft.com/office/officeart/2005/8/layout/hProcess9"/>
    <dgm:cxn modelId="{AB17DC56-3233-4529-8E47-89167043617D}" type="presParOf" srcId="{2CC5404C-D7B9-4E35-8333-2515FAE2FB93}" destId="{BDD93E1B-5031-4E8E-9D03-78A55F378854}" srcOrd="1" destOrd="0" presId="urn:microsoft.com/office/officeart/2005/8/layout/hProcess9"/>
    <dgm:cxn modelId="{1431B7CA-4608-4928-8CEC-8476CC8D4323}" type="presParOf" srcId="{BDD93E1B-5031-4E8E-9D03-78A55F378854}" destId="{7E57F88C-7417-4857-A7ED-496D07CD6A25}" srcOrd="0" destOrd="0" presId="urn:microsoft.com/office/officeart/2005/8/layout/hProcess9"/>
    <dgm:cxn modelId="{B26B9E43-A0C3-4CBB-B1E1-305D3438EC71}" type="presParOf" srcId="{BDD93E1B-5031-4E8E-9D03-78A55F378854}" destId="{02E2C9D6-9477-4BF5-851B-6D751D055D77}" srcOrd="1" destOrd="0" presId="urn:microsoft.com/office/officeart/2005/8/layout/hProcess9"/>
    <dgm:cxn modelId="{BDD3CF80-8EFC-4BDD-82E5-908A8A86B6FF}" type="presParOf" srcId="{BDD93E1B-5031-4E8E-9D03-78A55F378854}" destId="{EDE07701-8EA9-4197-9FAC-51CD5BD79368}" srcOrd="2" destOrd="0" presId="urn:microsoft.com/office/officeart/2005/8/layout/hProcess9"/>
    <dgm:cxn modelId="{AE4A82FF-F2C5-4710-83A9-DC1EEC7141E6}" type="presParOf" srcId="{BDD93E1B-5031-4E8E-9D03-78A55F378854}" destId="{213A4BFF-26A5-43FF-9E14-5A4B2FFC2FD5}" srcOrd="3" destOrd="0" presId="urn:microsoft.com/office/officeart/2005/8/layout/hProcess9"/>
    <dgm:cxn modelId="{F2371CD0-83E3-45AD-A517-E16D0CE23076}" type="presParOf" srcId="{BDD93E1B-5031-4E8E-9D03-78A55F378854}" destId="{F7BE77AF-0E0D-48B0-BF13-900D28490B01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F41791-8F79-42FC-B7F6-A1D6ACF72483}">
      <dsp:nvSpPr>
        <dsp:cNvPr id="0" name=""/>
        <dsp:cNvSpPr/>
      </dsp:nvSpPr>
      <dsp:spPr>
        <a:xfrm>
          <a:off x="649420" y="0"/>
          <a:ext cx="3680050" cy="212185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7F88C-7417-4857-A7ED-496D07CD6A25}">
      <dsp:nvSpPr>
        <dsp:cNvPr id="0" name=""/>
        <dsp:cNvSpPr/>
      </dsp:nvSpPr>
      <dsp:spPr>
        <a:xfrm>
          <a:off x="0" y="636556"/>
          <a:ext cx="1298841" cy="8487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1. Input</a:t>
          </a:r>
          <a:endParaRPr lang="en-US" sz="14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/>
            <a:t>Photos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/>
            <a:t>Text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/>
            <a:t>Numbers </a:t>
          </a:r>
        </a:p>
      </dsp:txBody>
      <dsp:txXfrm>
        <a:off x="41432" y="677988"/>
        <a:ext cx="1215977" cy="765878"/>
      </dsp:txXfrm>
    </dsp:sp>
    <dsp:sp modelId="{EDE07701-8EA9-4197-9FAC-51CD5BD79368}">
      <dsp:nvSpPr>
        <dsp:cNvPr id="0" name=""/>
        <dsp:cNvSpPr/>
      </dsp:nvSpPr>
      <dsp:spPr>
        <a:xfrm>
          <a:off x="1515314" y="636556"/>
          <a:ext cx="1298841" cy="8487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2. Train</a:t>
          </a:r>
          <a:endParaRPr lang="en-US" sz="14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/>
            <a:t>Algorithm finds patterns </a:t>
          </a:r>
        </a:p>
      </dsp:txBody>
      <dsp:txXfrm>
        <a:off x="1556746" y="677988"/>
        <a:ext cx="1215977" cy="765878"/>
      </dsp:txXfrm>
    </dsp:sp>
    <dsp:sp modelId="{F7BE77AF-0E0D-48B0-BF13-900D28490B01}">
      <dsp:nvSpPr>
        <dsp:cNvPr id="0" name=""/>
        <dsp:cNvSpPr/>
      </dsp:nvSpPr>
      <dsp:spPr>
        <a:xfrm>
          <a:off x="3030629" y="636556"/>
          <a:ext cx="1298841" cy="8487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3. Predict</a:t>
          </a:r>
          <a:endParaRPr lang="en-US" sz="14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/>
            <a:t>New Data → Decision </a:t>
          </a:r>
        </a:p>
      </dsp:txBody>
      <dsp:txXfrm>
        <a:off x="3072061" y="677988"/>
        <a:ext cx="1215977" cy="7658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30T11:25:54.6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10924 1778 16383 0 0,'12096'-96'0'0'0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30T11:25:54.6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10518 6224 16383 0 0,'14091'-359'0'0'0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30T11:25:54.6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11500 8186 16383 0 0,'8801'-53'0'0'0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30T11:25:54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12702 8898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A0245-1B14-45E4-B4E6-C291D8A4565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53AED3-0772-43EB-951B-DC25393A8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29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io.code.org/courses/oceans/units/1/lessons/1/levels/1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io.code.org/courses/oceans/units/1/lessons/1/levels/1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io.code.org/courses/oceans/units/1/lessons/1/levels/1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Help the audience list the technologies : Television, Radio, Washing machine, refrigerator, Trains, </a:t>
            </a:r>
            <a:r>
              <a:rPr lang="en-US" err="1">
                <a:latin typeface="Calibri"/>
                <a:ea typeface="Calibri"/>
                <a:cs typeface="Calibri"/>
              </a:rPr>
              <a:t>Aeroplanes</a:t>
            </a:r>
            <a:r>
              <a:rPr lang="en-US">
                <a:latin typeface="Calibri"/>
                <a:ea typeface="Calibri"/>
                <a:cs typeface="Calibri"/>
              </a:rPr>
              <a:t>, Electricity, Solar Energy, Wind mills, Abacus, Calculator, telegraph, AI tools , White Cane, computers, smartphones etc.</a:t>
            </a:r>
            <a:endParaRPr lang="en-US">
              <a:latin typeface="Aptos" panose="02110004020202020204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3AED3-0772-43EB-951B-DC25393A855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2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Used?</a:t>
            </a:r>
          </a:p>
          <a:p>
            <a:r>
              <a:rPr lang="en-US"/>
              <a:t>How AI is Used</a:t>
            </a:r>
          </a:p>
          <a:p>
            <a:r>
              <a:rPr lang="en-US" b="1"/>
              <a:t>Traffic light changing at fixed intervals</a:t>
            </a:r>
            <a:r>
              <a:rPr lang="en-US"/>
              <a:t>❌ </a:t>
            </a:r>
            <a:r>
              <a:rPr lang="en-US" err="1"/>
              <a:t>NoA</a:t>
            </a:r>
            <a:r>
              <a:rPr lang="en-US"/>
              <a:t> fixed-time traffic light follows a pre-programmed schedule. It does not learn or make decisions based on traffic conditions. (Adaptive traffic signal systems, however, can use AI.)</a:t>
            </a:r>
          </a:p>
          <a:p>
            <a:r>
              <a:rPr lang="en-US" b="1"/>
              <a:t>Face Recognition System</a:t>
            </a:r>
            <a:r>
              <a:rPr lang="en-US"/>
              <a:t>✅ </a:t>
            </a:r>
            <a:r>
              <a:rPr lang="en-US" err="1"/>
              <a:t>YesAI</a:t>
            </a:r>
            <a:r>
              <a:rPr lang="en-US"/>
              <a:t>, especially deep learning, detects faces, extracts facial features, and compares them with stored faces to identify or verify a person.</a:t>
            </a:r>
          </a:p>
          <a:p>
            <a:r>
              <a:rPr lang="en-US" b="1"/>
              <a:t>Washing machine with preset timer</a:t>
            </a:r>
            <a:r>
              <a:rPr lang="en-US"/>
              <a:t>❌ </a:t>
            </a:r>
            <a:r>
              <a:rPr lang="en-US" err="1"/>
              <a:t>NoA</a:t>
            </a:r>
            <a:r>
              <a:rPr lang="en-US"/>
              <a:t> preset timer simply follows instructions programmed by the manufacturer. It does not learn from previous washes. (Some modern smart washing machines do use AI to optimize wash cycles.)</a:t>
            </a:r>
          </a:p>
          <a:p>
            <a:r>
              <a:rPr lang="en-US" b="1"/>
              <a:t>Voice assistant</a:t>
            </a:r>
            <a:r>
              <a:rPr lang="en-US"/>
              <a:t>✅ </a:t>
            </a:r>
            <a:r>
              <a:rPr lang="en-US" err="1"/>
              <a:t>YesAI</a:t>
            </a:r>
            <a:r>
              <a:rPr lang="en-US"/>
              <a:t> understands spoken language (speech recognition), interprets the user's intent (natural language processing), and generates appropriate responses or actions.</a:t>
            </a:r>
          </a:p>
          <a:p>
            <a:r>
              <a:rPr lang="en-US" b="1"/>
              <a:t>Google Search suggestions</a:t>
            </a:r>
            <a:r>
              <a:rPr lang="en-US"/>
              <a:t>✅ </a:t>
            </a:r>
            <a:r>
              <a:rPr lang="en-US" err="1"/>
              <a:t>YesAI</a:t>
            </a:r>
            <a:r>
              <a:rPr lang="en-US"/>
              <a:t> analyzes billions of previous searches, language patterns, user context, and trending topics to predict what the user is likely to type next.</a:t>
            </a:r>
          </a:p>
          <a:p>
            <a:r>
              <a:rPr lang="en-US" b="1"/>
              <a:t>YouTube video recommendations</a:t>
            </a:r>
            <a:r>
              <a:rPr lang="en-US"/>
              <a:t>✅ </a:t>
            </a:r>
            <a:r>
              <a:rPr lang="en-US" err="1"/>
              <a:t>YesAI</a:t>
            </a:r>
            <a:r>
              <a:rPr lang="en-US"/>
              <a:t> learns from viewing history, watch time, likes, subscriptions, and similar users' preferences to recommend videos that are likely to interest the user.</a:t>
            </a:r>
          </a:p>
          <a:p>
            <a:r>
              <a:rPr lang="en-US" b="1"/>
              <a:t>Spell check &amp; grammar tools</a:t>
            </a:r>
            <a:r>
              <a:rPr lang="en-US"/>
              <a:t>✅ Yes (modern tools)Basic spell check uses dictionaries and rules, but modern grammar tools use AI to understand context, grammar, style, and even suggest better wording.</a:t>
            </a:r>
          </a:p>
          <a:p>
            <a:r>
              <a:rPr lang="en-US" b="1"/>
              <a:t>Online quizzes with instant feedback</a:t>
            </a:r>
            <a:r>
              <a:rPr lang="en-US"/>
              <a:t>⚠️ </a:t>
            </a:r>
            <a:r>
              <a:rPr lang="en-US" err="1"/>
              <a:t>SometimesIf</a:t>
            </a:r>
            <a:r>
              <a:rPr lang="en-US"/>
              <a:t> feedback is simply "Correct/Incorrect," AI is not needed. AI is used when the system provides personalized hints, adapts question difficulty, or explains mistakes based on student performance.</a:t>
            </a:r>
          </a:p>
          <a:p>
            <a:r>
              <a:rPr lang="en-US" b="1"/>
              <a:t>Google Maps route suggestions</a:t>
            </a:r>
            <a:r>
              <a:rPr lang="en-US"/>
              <a:t>✅ </a:t>
            </a:r>
            <a:r>
              <a:rPr lang="en-US" err="1"/>
              <a:t>YesAI</a:t>
            </a:r>
            <a:r>
              <a:rPr lang="en-US"/>
              <a:t> predicts traffic conditions, estimates travel time, detects road closures, and recommends the fastest or most efficient route using real-time and historical data.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3AED3-0772-43EB-951B-DC25393A855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816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Artificial Intelligence </a:t>
            </a:r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composed of two words </a:t>
            </a:r>
            <a:r>
              <a: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Artificial </a:t>
            </a:r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Intelligence</a:t>
            </a:r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</a:t>
            </a:r>
            <a:r>
              <a: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Artificial defines "man made," </a:t>
            </a:r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intelligence defines "thinking</a:t>
            </a:r>
          </a:p>
          <a:p>
            <a:r>
              <a: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power"</a:t>
            </a:r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hence AI means </a:t>
            </a:r>
            <a:r>
              <a:rPr lang="en-US"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"a man-made thinking power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3AED3-0772-43EB-951B-DC25393A855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18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In Traditional Programming, we feed the </a:t>
            </a:r>
            <a:r>
              <a:rPr lang="en-US" b="1">
                <a:ea typeface="+mn-lt"/>
                <a:cs typeface="+mn-lt"/>
              </a:rPr>
              <a:t>Input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b="1">
                <a:ea typeface="+mn-lt"/>
                <a:cs typeface="+mn-lt"/>
              </a:rPr>
              <a:t>Program logic</a:t>
            </a:r>
            <a:r>
              <a:rPr lang="en-US">
                <a:ea typeface="+mn-lt"/>
                <a:cs typeface="+mn-lt"/>
              </a:rPr>
              <a:t>, and run the program to get the </a:t>
            </a:r>
            <a:r>
              <a:rPr lang="en-US" b="1">
                <a:ea typeface="+mn-lt"/>
                <a:cs typeface="+mn-lt"/>
              </a:rPr>
              <a:t>output</a:t>
            </a:r>
            <a:r>
              <a:rPr lang="en-US">
                <a:ea typeface="+mn-lt"/>
                <a:cs typeface="+mn-lt"/>
              </a:rPr>
              <a:t>.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 Machine Learning, we feed the </a:t>
            </a:r>
            <a:r>
              <a:rPr lang="en-US" b="1">
                <a:ea typeface="+mn-lt"/>
                <a:cs typeface="+mn-lt"/>
              </a:rPr>
              <a:t>input</a:t>
            </a:r>
            <a:r>
              <a:rPr lang="en-US">
                <a:ea typeface="+mn-lt"/>
                <a:cs typeface="+mn-lt"/>
              </a:rPr>
              <a:t> and the </a:t>
            </a:r>
            <a:r>
              <a:rPr lang="en-US" b="1">
                <a:ea typeface="+mn-lt"/>
                <a:cs typeface="+mn-lt"/>
              </a:rPr>
              <a:t>output</a:t>
            </a:r>
            <a:r>
              <a:rPr lang="en-US">
                <a:ea typeface="+mn-lt"/>
                <a:cs typeface="+mn-lt"/>
              </a:rPr>
              <a:t> during training. The machine creates its own logic (model), which is then evaluated and used to make predictions during testing.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3AED3-0772-43EB-951B-DC25393A855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983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4FAB5-5272-0A3F-F34E-1EFADFC8A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70D90-B985-0307-F58C-675BBD5EF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3DA06-9785-1C41-971E-1DD2350EF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ea typeface="+mn-lt"/>
                <a:cs typeface="+mn-lt"/>
                <a:hlinkClick r:id="rId3"/>
              </a:rPr>
              <a:t>https://studio.code.org/courses/oceans/units/1/lessons/1/levels/1</a:t>
            </a:r>
            <a:endParaRPr lang="en-US">
              <a:ea typeface="+mn-lt"/>
              <a:cs typeface="+mn-lt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FB322-895F-9D73-B270-89FC93F17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3AED3-0772-43EB-951B-DC25393A855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89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ea typeface="+mn-lt"/>
                <a:cs typeface="+mn-lt"/>
                <a:hlinkClick r:id="rId3"/>
              </a:rPr>
              <a:t>https://studio.code.org/courses/oceans/units/1/lessons/1/levels/1</a:t>
            </a:r>
            <a:endParaRPr lang="en-US">
              <a:ea typeface="+mn-lt"/>
              <a:cs typeface="+mn-lt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3AED3-0772-43EB-951B-DC25393A855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43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Yes. For a child with visual impairment, </a:t>
            </a:r>
            <a:r>
              <a:rPr lang="en-US" b="1"/>
              <a:t>momentum</a:t>
            </a:r>
            <a:r>
              <a:rPr lang="en-US"/>
              <a:t> can be explained through </a:t>
            </a:r>
            <a:r>
              <a:rPr lang="en-US" b="1"/>
              <a:t>touch, sound, body experience, and familiar Tamil Nadu examples</a:t>
            </a:r>
            <a:r>
              <a:rPr lang="en-US"/>
              <a:t>.</a:t>
            </a:r>
          </a:p>
          <a:p>
            <a:r>
              <a:rPr lang="en-US"/>
              <a:t>Momentum means: </a:t>
            </a:r>
            <a:r>
              <a:rPr lang="en-US" b="1"/>
              <a:t>how difficult it is to stop a moving object.</a:t>
            </a:r>
            <a:br>
              <a:rPr lang="en-US"/>
            </a:br>
            <a:r>
              <a:rPr lang="en-US"/>
              <a:t>It depends on two things: </a:t>
            </a:r>
            <a:r>
              <a:rPr lang="en-US" b="1"/>
              <a:t>how heavy the object is</a:t>
            </a:r>
            <a:r>
              <a:rPr lang="en-US"/>
              <a:t> and </a:t>
            </a:r>
            <a:r>
              <a:rPr lang="en-US" b="1"/>
              <a:t>how fast it is moving</a:t>
            </a:r>
            <a:r>
              <a:rPr lang="en-US"/>
              <a:t>.</a:t>
            </a:r>
          </a:p>
          <a:p>
            <a:r>
              <a:rPr lang="en-US"/>
              <a:t></a:t>
            </a:r>
            <a:r>
              <a:rPr lang="en-US" err="1"/>
              <a:t>genui</a:t>
            </a:r>
            <a:r>
              <a:rPr lang="en-US"/>
              <a:t>{"</a:t>
            </a:r>
            <a:r>
              <a:rPr lang="en-US" err="1"/>
              <a:t>physics_learning_block</a:t>
            </a:r>
            <a:r>
              <a:rPr lang="en-US"/>
              <a:t>":{"</a:t>
            </a:r>
            <a:r>
              <a:rPr lang="en-US" err="1"/>
              <a:t>type_id":"MOMENTUM</a:t>
            </a:r>
            <a:r>
              <a:rPr lang="en-US"/>
              <a:t>"}}</a:t>
            </a:r>
          </a:p>
          <a:p>
            <a:r>
              <a:rPr lang="en-US" b="1"/>
              <a:t>Simple explanation</a:t>
            </a:r>
          </a:p>
          <a:p>
            <a:r>
              <a:rPr lang="en-US"/>
              <a:t>A moving object has momentum.</a:t>
            </a:r>
            <a:br>
              <a:rPr lang="en-US"/>
            </a:br>
            <a:r>
              <a:rPr lang="en-US"/>
              <a:t>A heavier object has more momentum.</a:t>
            </a:r>
            <a:br>
              <a:rPr lang="en-US"/>
            </a:br>
            <a:r>
              <a:rPr lang="en-US"/>
              <a:t>A faster object has more momentum.</a:t>
            </a:r>
          </a:p>
          <a:p>
            <a:r>
              <a:rPr lang="en-US"/>
              <a:t>So:</a:t>
            </a:r>
          </a:p>
          <a:p>
            <a:r>
              <a:rPr lang="en-US" b="1"/>
              <a:t>More mass + more speed = more momentum</a:t>
            </a:r>
            <a:endParaRPr lang="en-US"/>
          </a:p>
          <a:p>
            <a:r>
              <a:rPr lang="en-US" b="1"/>
              <a:t>Example 1: Rolling coconut and rolling lemon</a:t>
            </a:r>
          </a:p>
          <a:p>
            <a:r>
              <a:rPr lang="en-US"/>
              <a:t>Give the child a </a:t>
            </a:r>
            <a:r>
              <a:rPr lang="en-US" b="1"/>
              <a:t>lemon</a:t>
            </a:r>
            <a:r>
              <a:rPr lang="en-US"/>
              <a:t> and a </a:t>
            </a:r>
            <a:r>
              <a:rPr lang="en-US" b="1"/>
              <a:t>coconut</a:t>
            </a:r>
            <a:r>
              <a:rPr lang="en-US"/>
              <a:t>.</a:t>
            </a:r>
          </a:p>
          <a:p>
            <a:r>
              <a:rPr lang="en-US"/>
              <a:t>Ask them to gently roll both on the floor.</a:t>
            </a:r>
          </a:p>
          <a:p>
            <a:r>
              <a:rPr lang="en-US"/>
              <a:t>Then ask:</a:t>
            </a:r>
          </a:p>
          <a:p>
            <a:r>
              <a:rPr lang="en-US" b="1"/>
              <a:t>“Which one is harder to stop with your hand?”</a:t>
            </a:r>
            <a:endParaRPr lang="en-US"/>
          </a:p>
          <a:p>
            <a:r>
              <a:rPr lang="en-US"/>
              <a:t>The coconut will be harder to stop because it has more mass. Even if both move at the same speed, the coconut has more momentum.</a:t>
            </a:r>
          </a:p>
          <a:p>
            <a:r>
              <a:rPr lang="en-US" b="1"/>
              <a:t>Concept:</a:t>
            </a:r>
            <a:r>
              <a:rPr lang="en-US"/>
              <a:t> Heavier moving object has more momentum.</a:t>
            </a:r>
          </a:p>
          <a:p>
            <a:r>
              <a:rPr lang="en-US" b="1"/>
              <a:t>Example 2: Slow ball and fast ball</a:t>
            </a:r>
          </a:p>
          <a:p>
            <a:r>
              <a:rPr lang="en-US"/>
              <a:t>Use the same ball.</a:t>
            </a:r>
          </a:p>
          <a:p>
            <a:r>
              <a:rPr lang="en-US"/>
              <a:t>First roll it slowly towards the child’s hand.</a:t>
            </a:r>
            <a:br>
              <a:rPr lang="en-US"/>
            </a:br>
            <a:r>
              <a:rPr lang="en-US"/>
              <a:t>Then roll it a little faster.</a:t>
            </a:r>
          </a:p>
          <a:p>
            <a:r>
              <a:rPr lang="en-US"/>
              <a:t>Ask:</a:t>
            </a:r>
          </a:p>
          <a:p>
            <a:r>
              <a:rPr lang="en-US" b="1"/>
              <a:t>“Which one pushes your hand more?”</a:t>
            </a:r>
            <a:endParaRPr lang="en-US"/>
          </a:p>
          <a:p>
            <a:r>
              <a:rPr lang="en-US"/>
              <a:t>The faster ball will feel harder to stop.</a:t>
            </a:r>
          </a:p>
          <a:p>
            <a:r>
              <a:rPr lang="en-US" b="1"/>
              <a:t>Concept:</a:t>
            </a:r>
            <a:r>
              <a:rPr lang="en-US"/>
              <a:t> Same mass, but higher speed means higher momentum.</a:t>
            </a:r>
          </a:p>
          <a:p>
            <a:r>
              <a:rPr lang="en-US" b="1"/>
              <a:t>Example 3: Bicycle and bus on a Tamil Nadu road</a:t>
            </a:r>
          </a:p>
          <a:p>
            <a:r>
              <a:rPr lang="en-US"/>
              <a:t>Ask the child to imagine standing safely on the roadside.</a:t>
            </a:r>
          </a:p>
          <a:p>
            <a:r>
              <a:rPr lang="en-US"/>
              <a:t>A </a:t>
            </a:r>
            <a:r>
              <a:rPr lang="en-US" b="1"/>
              <a:t>cycle</a:t>
            </a:r>
            <a:r>
              <a:rPr lang="en-US"/>
              <a:t> is moving. A </a:t>
            </a:r>
            <a:r>
              <a:rPr lang="en-US" b="1"/>
              <a:t>bus</a:t>
            </a:r>
            <a:r>
              <a:rPr lang="en-US"/>
              <a:t> is also moving at the same speed.</a:t>
            </a:r>
          </a:p>
          <a:p>
            <a:r>
              <a:rPr lang="en-US"/>
              <a:t>Ask:</a:t>
            </a:r>
          </a:p>
          <a:p>
            <a:r>
              <a:rPr lang="en-US" b="1"/>
              <a:t>“Which one will be harder to stop suddenly — the cycle or the bus?”</a:t>
            </a:r>
            <a:endParaRPr lang="en-US"/>
          </a:p>
          <a:p>
            <a:r>
              <a:rPr lang="en-US"/>
              <a:t>The bus, because it is much heavier. That is why buses and lorries need more distance to stop.</a:t>
            </a:r>
          </a:p>
          <a:p>
            <a:r>
              <a:rPr lang="en-US" b="1"/>
              <a:t>Concept:</a:t>
            </a:r>
            <a:r>
              <a:rPr lang="en-US"/>
              <a:t> Large mass gives large momentum.</a:t>
            </a:r>
          </a:p>
          <a:p>
            <a:r>
              <a:rPr lang="en-US" b="1"/>
              <a:t>Example 4: Empty school bag and heavy school bag</a:t>
            </a:r>
          </a:p>
          <a:p>
            <a:r>
              <a:rPr lang="en-US"/>
              <a:t>Let the child hold an empty school bag and swing it gently.</a:t>
            </a:r>
          </a:p>
          <a:p>
            <a:r>
              <a:rPr lang="en-US"/>
              <a:t>Then add books and make the bag heavier. Let them swing it gently again.</a:t>
            </a:r>
          </a:p>
          <a:p>
            <a:r>
              <a:rPr lang="en-US"/>
              <a:t>Ask:</a:t>
            </a:r>
          </a:p>
          <a:p>
            <a:r>
              <a:rPr lang="en-US" b="1"/>
              <a:t>“Which bag is harder to stop once it is moving?”</a:t>
            </a:r>
            <a:endParaRPr lang="en-US"/>
          </a:p>
          <a:p>
            <a:r>
              <a:rPr lang="en-US"/>
              <a:t>The heavier bag is harder to stop.</a:t>
            </a:r>
          </a:p>
          <a:p>
            <a:r>
              <a:rPr lang="en-US" b="1"/>
              <a:t>Concept:</a:t>
            </a:r>
            <a:r>
              <a:rPr lang="en-US"/>
              <a:t> More mass creates more momentum when moving.</a:t>
            </a:r>
          </a:p>
          <a:p>
            <a:r>
              <a:rPr lang="en-US" b="1"/>
              <a:t>Example 5: Kabaddi player running slowly and fast</a:t>
            </a:r>
          </a:p>
          <a:p>
            <a:r>
              <a:rPr lang="en-US"/>
              <a:t>Use a familiar sports example.</a:t>
            </a:r>
          </a:p>
          <a:p>
            <a:r>
              <a:rPr lang="en-US"/>
              <a:t>A Kabaddi player walking slowly is easy to stop.</a:t>
            </a:r>
            <a:br>
              <a:rPr lang="en-US"/>
            </a:br>
            <a:r>
              <a:rPr lang="en-US"/>
              <a:t>The same player running fast is harder to stop.</a:t>
            </a:r>
          </a:p>
          <a:p>
            <a:r>
              <a:rPr lang="en-US" b="1"/>
              <a:t>Concept:</a:t>
            </a:r>
            <a:r>
              <a:rPr lang="en-US"/>
              <a:t> Higher speed increases momentum.</a:t>
            </a:r>
          </a:p>
          <a:p>
            <a:r>
              <a:rPr lang="en-US" b="1"/>
              <a:t>Example 6: Auto-rickshaw and lorry</a:t>
            </a:r>
          </a:p>
          <a:p>
            <a:r>
              <a:rPr lang="en-US"/>
              <a:t>An auto and a lorry are both moving. The lorry has more mass, so it has more momentum. That is why a lorry driver cannot stop immediately, especially if it is moving fast.</a:t>
            </a:r>
          </a:p>
          <a:p>
            <a:r>
              <a:rPr lang="en-US" b="1"/>
              <a:t>Concept:</a:t>
            </a:r>
            <a:r>
              <a:rPr lang="en-US"/>
              <a:t> Momentum explains why road safety and stopping distance are important.</a:t>
            </a:r>
          </a:p>
          <a:p>
            <a:r>
              <a:rPr lang="en-US" b="1"/>
              <a:t>Tactile classroom activity</a:t>
            </a:r>
          </a:p>
          <a:p>
            <a:r>
              <a:rPr lang="en-US"/>
              <a:t>Use three objects:</a:t>
            </a:r>
          </a:p>
          <a:p>
            <a:r>
              <a:rPr lang="en-US"/>
              <a:t>Small ball</a:t>
            </a:r>
          </a:p>
          <a:p>
            <a:r>
              <a:rPr lang="en-US"/>
              <a:t>Coconut</a:t>
            </a:r>
          </a:p>
          <a:p>
            <a:r>
              <a:rPr lang="en-US"/>
              <a:t>Bag with books</a:t>
            </a:r>
          </a:p>
          <a:p>
            <a:r>
              <a:rPr lang="en-US"/>
              <a:t>Roll or push each object gently and let the child stop it with both hands.</a:t>
            </a:r>
          </a:p>
          <a:p>
            <a:r>
              <a:rPr lang="en-US"/>
              <a:t>Ask these questions:</a:t>
            </a:r>
          </a:p>
          <a:p>
            <a:r>
              <a:rPr lang="en-US" b="1"/>
              <a:t>Which object was easiest to stop?</a:t>
            </a:r>
            <a:endParaRPr lang="en-US"/>
          </a:p>
          <a:p>
            <a:r>
              <a:rPr lang="en-US" b="1"/>
              <a:t>Which object was hardest to stop?</a:t>
            </a:r>
            <a:endParaRPr lang="en-US"/>
          </a:p>
          <a:p>
            <a:r>
              <a:rPr lang="en-US" b="1"/>
              <a:t>What changed — mass or speed?</a:t>
            </a:r>
            <a:endParaRPr lang="en-US"/>
          </a:p>
          <a:p>
            <a:r>
              <a:rPr lang="en-US" b="1"/>
              <a:t>What happens if we push the same object faster?</a:t>
            </a:r>
            <a:endParaRPr lang="en-US"/>
          </a:p>
          <a:p>
            <a:r>
              <a:rPr lang="en-US" b="1"/>
              <a:t>Child-friendly definition</a:t>
            </a:r>
          </a:p>
          <a:p>
            <a:r>
              <a:rPr lang="en-US" b="1"/>
              <a:t>Momentum is the strength of motion of a moving object. A heavy or fast-moving object has more momentum, so it is harder to stop.</a:t>
            </a:r>
            <a:endParaRPr lang="en-US"/>
          </a:p>
          <a:p>
            <a:r>
              <a:rPr lang="en-US"/>
              <a:t>In Tamil-supported language, you can say:</a:t>
            </a:r>
          </a:p>
          <a:p>
            <a:r>
              <a:rPr lang="en-US" b="1"/>
              <a:t>“Oru </a:t>
            </a:r>
            <a:r>
              <a:rPr lang="en-US" b="1" err="1"/>
              <a:t>porul</a:t>
            </a:r>
            <a:r>
              <a:rPr lang="en-US" b="1"/>
              <a:t> </a:t>
            </a:r>
            <a:r>
              <a:rPr lang="en-US" b="1" err="1"/>
              <a:t>nadakkumbodhu</a:t>
            </a:r>
            <a:r>
              <a:rPr lang="en-US" b="1"/>
              <a:t> </a:t>
            </a:r>
            <a:r>
              <a:rPr lang="en-US" b="1" err="1"/>
              <a:t>adhai</a:t>
            </a:r>
            <a:r>
              <a:rPr lang="en-US" b="1"/>
              <a:t> </a:t>
            </a:r>
            <a:r>
              <a:rPr lang="en-US" b="1" err="1"/>
              <a:t>nirutharadhu</a:t>
            </a:r>
            <a:r>
              <a:rPr lang="en-US" b="1"/>
              <a:t> </a:t>
            </a:r>
            <a:r>
              <a:rPr lang="en-US" b="1" err="1"/>
              <a:t>evlo</a:t>
            </a:r>
            <a:r>
              <a:rPr lang="en-US" b="1"/>
              <a:t> </a:t>
            </a:r>
            <a:r>
              <a:rPr lang="en-US" b="1" err="1"/>
              <a:t>kashtam</a:t>
            </a:r>
            <a:r>
              <a:rPr lang="en-US" b="1"/>
              <a:t> nu </a:t>
            </a:r>
            <a:r>
              <a:rPr lang="en-US" b="1" err="1"/>
              <a:t>sollradhu</a:t>
            </a:r>
            <a:r>
              <a:rPr lang="en-US" b="1"/>
              <a:t> momentum.”</a:t>
            </a:r>
            <a:br>
              <a:rPr lang="en-US"/>
            </a:br>
            <a:r>
              <a:rPr lang="en-US"/>
              <a:t>Meaning: Momentum tells us how difficult it is to stop a moving object.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3AED3-0772-43EB-951B-DC25393A855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82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3AED3-0772-43EB-951B-DC25393A855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89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My trial in 2025: Many inaccuracies were found when asking to draw the carbon atom model. The text gave the correct information though. </a:t>
            </a:r>
          </a:p>
          <a:p>
            <a:r>
              <a:rPr lang="en-US"/>
              <a:t>The number of electrons were not correct. The marking of Neutron </a:t>
            </a:r>
            <a:r>
              <a:rPr lang="en-US" err="1"/>
              <a:t>etc</a:t>
            </a:r>
            <a:r>
              <a:rPr lang="en-US"/>
              <a:t> was incorrect.</a:t>
            </a:r>
          </a:p>
          <a:p>
            <a:endParaRPr lang="en-US"/>
          </a:p>
          <a:p>
            <a:r>
              <a:rPr lang="en-US"/>
              <a:t>AI is continuously becoming better, but it is not 100% accurate. </a:t>
            </a:r>
          </a:p>
          <a:p>
            <a:endParaRPr lang="en-US"/>
          </a:p>
          <a:p>
            <a:r>
              <a:rPr lang="en-US"/>
              <a:t>User needs to assert the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3AED3-0772-43EB-951B-DC25393A855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484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will be covered in more detail, hands on in module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3AED3-0772-43EB-951B-DC25393A855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41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Teachers should be sent this guardrail prompt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3AED3-0772-43EB-951B-DC25393A855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93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3AED3-0772-43EB-951B-DC25393A855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53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B59A9-CC05-F7A0-0C45-88499B15F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72C887-FB0B-57DB-6746-4E1112F36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5C188-8ECE-796E-E951-AF10DC651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ea typeface="+mn-lt"/>
                <a:cs typeface="+mn-lt"/>
                <a:hlinkClick r:id="rId3"/>
              </a:rPr>
              <a:t>https://studio.code.org/courses/oceans/units/1/lessons/1/levels/1</a:t>
            </a:r>
            <a:endParaRPr lang="en-US">
              <a:ea typeface="+mn-lt"/>
              <a:cs typeface="+mn-lt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FB1AB-360D-5DF3-74E3-651AB6E30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53AED3-0772-43EB-951B-DC25393A855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47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D4BDB-7FD5-C120-DD57-1871421F8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82E7E-F006-0D4B-73B9-686A6F973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1ECAB-4C64-4D7D-437C-F816CBABE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5D5B-26C0-478C-95AE-C98E9917012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F3AF2-8C68-06EF-849D-3D09CE52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C13E6-5FA6-3F9A-3D44-F5D920551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48820-C203-42CC-81BE-ECB265C39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87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BCCFA-3966-E6C0-7F18-87863B0AB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A4C7F-1863-E71C-1766-B30E6135D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03792-CB0E-DD10-8E5D-DC9FCF7D5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5D5B-26C0-478C-95AE-C98E9917012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3338A-9E59-E455-A68D-2A640881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C235B-8963-8A80-848D-DFC6F3F92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48820-C203-42CC-81BE-ECB265C39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33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E2BA-0049-3258-6E7E-8B1483E07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31AA2-B9A2-72CA-438F-59820BDAD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1DC0F-6870-2F8E-4B72-CD31DDE2D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5D5B-26C0-478C-95AE-C98E9917012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A5095-5D0E-E463-C986-E3F3AF783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E51EC-6232-E015-7C82-2363F38B7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48820-C203-42CC-81BE-ECB265C39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35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4FC27-1572-0989-89D9-09238057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E2C42-4C5C-C1F0-3078-7F059FBBB2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D2FD9-1453-B030-924A-3E17A8B18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17624-AFE9-B0FB-C992-D0A703508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5D5B-26C0-478C-95AE-C98E9917012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8787A-B217-5832-34B2-DD9FA0CF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03789-C4EE-842A-F54A-D4F818F77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48820-C203-42CC-81BE-ECB265C39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46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D3D41-181C-09ED-8043-0A638DD02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B56E0-A70A-DBBD-35F4-801B7DF5A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7FF63-569A-8FF0-B17F-AEEAA55B3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CABE7-F248-7C0D-016B-B3F066AEEB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2D86A-89E0-5D4C-1BBC-584AB0E69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D7F4E-F176-9EEF-4A3A-CD9862CD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5D5B-26C0-478C-95AE-C98E9917012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61A0DB-D395-D033-ED44-4999A0E91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A07065-9F74-BBFC-4F4F-5824CD2E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48820-C203-42CC-81BE-ECB265C39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86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2794D-6396-9B03-EAD7-BFEC679F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688B4F-8239-086B-7D25-F8D716BE0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5D5B-26C0-478C-95AE-C98E9917012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7D8D0-CD53-2E43-B2E7-4534D9A5C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46060C-2824-9F87-321A-09FB0F01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48820-C203-42CC-81BE-ECB265C39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3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3ECAD8-4382-BC6C-EB37-53CFEC72D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5D5B-26C0-478C-95AE-C98E9917012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12CE45-7959-5682-C98C-C2514EF95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E4D99-F201-C6E3-5D47-0926A3A8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48820-C203-42CC-81BE-ECB265C39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25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4809C-9A4F-DFCB-9BBE-858337B0B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F3929-41CB-E032-90E4-FD8719D83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C9DF8-A9B0-A528-71E7-D96191D5A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96F5B-CC74-C1AB-D62C-32E46ECB6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5D5B-26C0-478C-95AE-C98E9917012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BE220-33F0-4EB3-74BA-97B1572F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CB48A-7F8D-409C-EBD5-8CFC533F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48820-C203-42CC-81BE-ECB265C39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96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45562-B188-4B26-905A-207D20E38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406918-3102-8F24-2B34-8DF0920DD7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A9F6A-4638-04E3-D7A3-EF224DD09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50897-E24B-7FC2-5F78-A932F5E23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5D5B-26C0-478C-95AE-C98E9917012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E17DF-2BD2-530D-78D8-DA37F37FB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75901-24B2-701E-419C-486EABC46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48820-C203-42CC-81BE-ECB265C39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63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E973E-0827-FDFA-2F6E-ABE2A242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D4C4F-C565-CC05-1D88-DF6FC7022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78050-1BB3-34FD-4C26-451A3F266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5D5B-26C0-478C-95AE-C98E9917012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A7203-D46B-595F-20C2-4E0E4934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6D7F5-949F-DA9F-508F-BD0C8A282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48820-C203-42CC-81BE-ECB265C39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4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802C9-6AD2-B387-FA70-2F81FA8AB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B0C737-6314-523F-4C3E-CCC03ADD1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604C7-7035-E4F2-6BE3-711C3FC6F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15D5B-26C0-478C-95AE-C98E9917012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E014A-AD4B-5BE5-38F3-1694D833A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97042-28E5-0874-8DC4-C49E05AF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48820-C203-42CC-81BE-ECB265C39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9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3A807E-21F5-9471-25F8-95C0D46AE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B9F36-612F-6B67-98AB-7C0FF6628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BAE9B-2AC7-5B68-D3ED-A25E534EC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C15D5B-26C0-478C-95AE-C98E9917012D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7C7C3-0AA9-2D29-084F-7BED8DFFE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FCD47-FEB6-51E4-F069-9FEABD48A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48820-C203-42CC-81BE-ECB265C39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3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uno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customXml" Target="../ink/ink2.xml"/><Relationship Id="rId12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customXml" Target="../ink/ink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6063C-3453-9878-D7FB-0560B0FB5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391" y="376728"/>
            <a:ext cx="12039903" cy="1021751"/>
          </a:xfrm>
        </p:spPr>
        <p:txBody>
          <a:bodyPr>
            <a:normAutofit/>
          </a:bodyPr>
          <a:lstStyle/>
          <a:p>
            <a:r>
              <a:rPr lang="en-US" sz="5400"/>
              <a:t>Vision Empower Trust AI Skilling Program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7B741-42E9-DA37-7642-16595A6D1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729" y="2712913"/>
            <a:ext cx="12058316" cy="23776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  <a:ea typeface="+mn-lt"/>
                <a:cs typeface="+mn-lt"/>
              </a:rPr>
              <a:t>Introducing Artificial Intelligence,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3600" b="1" dirty="0">
                <a:solidFill>
                  <a:srgbClr val="7030A0"/>
                </a:solidFill>
              </a:rPr>
              <a:t>Responsible, Informed, Conscious (RIC) Use of AI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MODULE-1</a:t>
            </a:r>
          </a:p>
          <a:p>
            <a:r>
              <a:rPr lang="en-US" dirty="0">
                <a:solidFill>
                  <a:srgbClr val="000000"/>
                </a:solidFill>
              </a:rPr>
              <a:t>Vision Empower Trust</a:t>
            </a:r>
          </a:p>
          <a:p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B3DCA17-06EC-8695-8230-CE2D1583EB49}"/>
              </a:ext>
            </a:extLst>
          </p:cNvPr>
          <p:cNvSpPr/>
          <p:nvPr/>
        </p:nvSpPr>
        <p:spPr>
          <a:xfrm>
            <a:off x="5467950" y="5082507"/>
            <a:ext cx="1256100" cy="1339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200"/>
          </a:p>
        </p:txBody>
      </p:sp>
      <p:pic>
        <p:nvPicPr>
          <p:cNvPr id="5" name="Graphic 3">
            <a:extLst>
              <a:ext uri="{FF2B5EF4-FFF2-40B4-BE49-F238E27FC236}">
                <a16:creationId xmlns:a16="http://schemas.microsoft.com/office/drawing/2014/main" id="{8F632B84-A3E8-097F-7CEF-455705C51393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4894" b="34111"/>
          <a:stretch/>
        </p:blipFill>
        <p:spPr>
          <a:xfrm>
            <a:off x="8198252" y="5334584"/>
            <a:ext cx="3863468" cy="855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E1CDDB-276E-EFDC-9A71-AE2F576A1A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80" y="5330552"/>
            <a:ext cx="3210560" cy="83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65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76FF-652A-988E-A326-EFA26F35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Agenda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79B3E9A-A26D-D7D3-6421-654A8AF6D9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931632"/>
              </p:ext>
            </p:extLst>
          </p:nvPr>
        </p:nvGraphicFramePr>
        <p:xfrm>
          <a:off x="1211942" y="1567542"/>
          <a:ext cx="9434792" cy="4923053"/>
        </p:xfrm>
        <a:graphic>
          <a:graphicData uri="http://schemas.openxmlformats.org/drawingml/2006/table">
            <a:tbl>
              <a:tblPr firstRow="1" firstCol="1" bandRow="1"/>
              <a:tblGrid>
                <a:gridCol w="1965582">
                  <a:extLst>
                    <a:ext uri="{9D8B030D-6E8A-4147-A177-3AD203B41FA5}">
                      <a16:colId xmlns:a16="http://schemas.microsoft.com/office/drawing/2014/main" val="3275682066"/>
                    </a:ext>
                  </a:extLst>
                </a:gridCol>
                <a:gridCol w="7469210">
                  <a:extLst>
                    <a:ext uri="{9D8B030D-6E8A-4147-A177-3AD203B41FA5}">
                      <a16:colId xmlns:a16="http://schemas.microsoft.com/office/drawing/2014/main" val="290600863"/>
                    </a:ext>
                  </a:extLst>
                </a:gridCol>
              </a:tblGrid>
              <a:tr h="41855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"/>
                        </a:spcAft>
                        <a:buNone/>
                        <a:defRPr sz="1800" b="1">
                          <a:latin typeface="Calibri Light"/>
                        </a:defRPr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alibri Light"/>
                          <a:ea typeface="Arial" panose="020B0604020202020204" pitchFamily="34" charset="0"/>
                          <a:cs typeface="Arial"/>
                        </a:rPr>
                        <a:t>Item</a:t>
                      </a:r>
                      <a:endParaRPr lang="en-US" sz="1800">
                        <a:effectLst/>
                        <a:latin typeface="Arial"/>
                        <a:ea typeface="Arial" panose="020B0604020202020204" pitchFamily="34" charset="0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"/>
                        </a:spcAft>
                        <a:buNone/>
                        <a:defRPr sz="1800" b="1">
                          <a:latin typeface="Calibri Light"/>
                        </a:defRPr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alibri Light"/>
                          <a:ea typeface="Arial" panose="020B0604020202020204" pitchFamily="34" charset="0"/>
                          <a:cs typeface="Arial"/>
                        </a:rPr>
                        <a:t>Details</a:t>
                      </a:r>
                      <a:endParaRPr lang="en-US" sz="1800">
                        <a:effectLst/>
                        <a:latin typeface="Arial"/>
                        <a:ea typeface="Arial" panose="020B0604020202020204" pitchFamily="34" charset="0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743850"/>
                  </a:ext>
                </a:extLst>
              </a:tr>
              <a:tr h="8570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"/>
                        </a:spcAft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>
                          <a:effectLst/>
                          <a:latin typeface="Calibri Light"/>
                          <a:ea typeface="Arial" panose="020B0604020202020204" pitchFamily="34" charset="0"/>
                          <a:cs typeface="Arial"/>
                        </a:rPr>
                        <a:t>Audience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"/>
                        </a:spcAft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>
                          <a:effectLst/>
                          <a:latin typeface="Calibri Light"/>
                          <a:ea typeface="Arial" panose="020B0604020202020204" pitchFamily="34" charset="0"/>
                          <a:cs typeface="Arial"/>
                        </a:rPr>
                        <a:t>Teachers, special educators, resource persons and school leaders working with visually impaired students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766052"/>
                  </a:ext>
                </a:extLst>
              </a:tr>
              <a:tr h="41855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"/>
                        </a:spcAft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>
                          <a:effectLst/>
                          <a:latin typeface="Calibri Light"/>
                          <a:ea typeface="Arial" panose="020B0604020202020204" pitchFamily="34" charset="0"/>
                          <a:cs typeface="Arial"/>
                        </a:rPr>
                        <a:t>Duration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"/>
                        </a:spcAft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>
                          <a:effectLst/>
                          <a:latin typeface="Calibri Light"/>
                          <a:ea typeface="Arial" panose="020B0604020202020204" pitchFamily="34" charset="0"/>
                          <a:cs typeface="Arial"/>
                        </a:rPr>
                        <a:t>90 minutes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108218"/>
                  </a:ext>
                </a:extLst>
              </a:tr>
              <a:tr h="6776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"/>
                        </a:spcAft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>
                          <a:effectLst/>
                          <a:latin typeface="Calibri Light"/>
                          <a:ea typeface="Arial" panose="020B0604020202020204" pitchFamily="34" charset="0"/>
                          <a:cs typeface="Arial"/>
                        </a:rPr>
                        <a:t>Mode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"/>
                        </a:spcAft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>
                          <a:effectLst/>
                          <a:latin typeface="Calibri Light"/>
                          <a:ea typeface="Arial" panose="020B0604020202020204" pitchFamily="34" charset="0"/>
                          <a:cs typeface="Arial"/>
                        </a:rPr>
                        <a:t>Facilitator-led, discussion-based, with one short hands-on or scenario activity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572835"/>
                  </a:ext>
                </a:extLst>
              </a:tr>
              <a:tr h="6776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"/>
                        </a:spcAft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>
                          <a:effectLst/>
                          <a:latin typeface="Calibri Light"/>
                          <a:ea typeface="Arial" panose="020B0604020202020204" pitchFamily="34" charset="0"/>
                          <a:cs typeface="Arial"/>
                        </a:rPr>
                        <a:t>Prerequisites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"/>
                        </a:spcAft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>
                          <a:effectLst/>
                          <a:latin typeface="Calibri Light"/>
                          <a:ea typeface="Arial" panose="020B0604020202020204" pitchFamily="34" charset="0"/>
                          <a:cs typeface="Arial"/>
                        </a:rPr>
                        <a:t>Basic smartphone/computer familiarity; no prior AI knowledge required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253508"/>
                  </a:ext>
                </a:extLst>
              </a:tr>
              <a:tr h="10165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"/>
                        </a:spcAft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>
                          <a:effectLst/>
                          <a:latin typeface="Calibri Light"/>
                          <a:ea typeface="Arial" panose="020B0604020202020204" pitchFamily="34" charset="0"/>
                          <a:cs typeface="Arial"/>
                        </a:rPr>
                        <a:t>Module purpose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"/>
                        </a:spcAft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>
                          <a:effectLst/>
                          <a:latin typeface="Calibri Light"/>
                          <a:ea typeface="Arial" panose="020B0604020202020204" pitchFamily="34" charset="0"/>
                          <a:cs typeface="Arial"/>
                        </a:rPr>
                        <a:t>To introduce AI formally, explain how it differs from earlier technologies, clarify AI/ML/Generative AI, show key capabilities, promote Responsible, Informed and Conscious AI Use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868384"/>
                  </a:ext>
                </a:extLst>
              </a:tr>
              <a:tr h="8570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"/>
                        </a:spcAft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>
                          <a:effectLst/>
                          <a:latin typeface="Calibri Light"/>
                          <a:ea typeface="Arial" panose="020B0604020202020204" pitchFamily="34" charset="0"/>
                          <a:cs typeface="Arial"/>
                        </a:rPr>
                        <a:t>Session principle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"/>
                        </a:spcAft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>
                          <a:effectLst/>
                          <a:latin typeface="Calibri Light"/>
                          <a:ea typeface="Arial" panose="020B0604020202020204" pitchFamily="34" charset="0"/>
                          <a:cs typeface="Arial"/>
                        </a:rPr>
                        <a:t>Teacher judgement remains central. AI is an assistant for access, planning and communication; it is not a replacement for the teacher.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127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961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D0AD0-2814-FC63-8EAE-233569CA8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IN" sz="3600" b="1">
                <a:latin typeface="Calibri Light"/>
              </a:rPr>
              <a:t>Pre-Assessment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45287-D069-0D1E-0AEE-E159B1BEF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IN" sz="2400" b="0">
                <a:latin typeface="Calibri Light"/>
              </a:rPr>
              <a:t>Do you know the difference between Traditional technologies vs AI technologies?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IN" sz="2400" b="0">
                <a:latin typeface="Calibri Light"/>
              </a:rPr>
              <a:t>Do you know the difference between supervised and unsupervised learning ?</a:t>
            </a:r>
          </a:p>
          <a:p>
            <a:pPr>
              <a:defRPr sz="2400" b="0">
                <a:latin typeface="Calibri Light"/>
              </a:defRPr>
            </a:pPr>
            <a:r>
              <a:rPr lang="en-IN" sz="2400" b="0">
                <a:latin typeface="Calibri Light"/>
              </a:rPr>
              <a:t>What is the role of data in making an AI solution useful?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What does human-in-the-loop mean and why is it important?</a:t>
            </a:r>
          </a:p>
          <a:p>
            <a:pPr>
              <a:defRPr sz="2400" b="0">
                <a:latin typeface="Calibri Light"/>
              </a:defRPr>
            </a:pPr>
            <a:r>
              <a:rPr lang="en-IN" sz="2400" b="0">
                <a:latin typeface="Calibri Light"/>
              </a:rPr>
              <a:t>Can AI make mistakes ?</a:t>
            </a:r>
          </a:p>
          <a:p>
            <a:pPr>
              <a:defRPr sz="2400" b="0">
                <a:latin typeface="Calibri Light"/>
              </a:defRPr>
            </a:pPr>
            <a:r>
              <a:rPr lang="en-IN" sz="2400" b="0">
                <a:latin typeface="Calibri Light"/>
              </a:rPr>
              <a:t>What is hallucination ?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Does AI have emotions ?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Do you think Responsible, Informed and Conscious use of AI is necessary?</a:t>
            </a:r>
          </a:p>
        </p:txBody>
      </p:sp>
    </p:spTree>
    <p:extLst>
      <p:ext uri="{BB962C8B-B14F-4D97-AF65-F5344CB8AC3E}">
        <p14:creationId xmlns:p14="http://schemas.microsoft.com/office/powerpoint/2010/main" val="3556693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CFBCD-1744-8518-3B34-9E507C60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Ice Breaker – Thinking about different technologies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18F22-48E6-E01A-F6E5-C8AF4A553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buNone/>
              <a:defRPr sz="2400" b="0">
                <a:latin typeface="Calibri Light"/>
              </a:defRPr>
            </a:pPr>
            <a:r>
              <a:rPr lang="en-US" sz="2400" b="1">
                <a:latin typeface="Calibri Light"/>
                <a:ea typeface="+mn-lt"/>
                <a:cs typeface="+mn-lt"/>
              </a:rPr>
              <a:t>Objective</a:t>
            </a:r>
            <a:endParaRPr lang="en-US" b="1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Recall technologies and the problems they solve. 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Reflect on the following:</a:t>
            </a: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+mn-lt"/>
                <a:cs typeface="+mn-lt"/>
              </a:rPr>
              <a:t>What problem did it solve?</a:t>
            </a:r>
          </a:p>
          <a:p>
            <a:pPr lvl="1">
              <a:buFont typeface="Courier New" panose="020B0604020202020204" pitchFamily="34" charset="0"/>
              <a:buChar char="o"/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+mn-lt"/>
                <a:cs typeface="+mn-lt"/>
              </a:rPr>
              <a:t>How does it help today? </a:t>
            </a:r>
          </a:p>
          <a:p>
            <a:pPr marL="0" indent="0">
              <a:buNone/>
              <a:defRPr sz="2400" b="0">
                <a:latin typeface="Calibri Light"/>
              </a:defRPr>
            </a:pPr>
            <a:r>
              <a:rPr lang="en-US" sz="2400" b="1">
                <a:latin typeface="Calibri Light"/>
                <a:ea typeface="+mn-lt"/>
                <a:cs typeface="+mn-lt"/>
              </a:rPr>
              <a:t>Key Takeaway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Technology has evolved from the Abacus to AI, making life, learning, and accessibility easier.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Some technologies are not present anymore, they have evolved and other tools have taken their place</a:t>
            </a:r>
          </a:p>
          <a:p>
            <a:pPr>
              <a:defRPr sz="2400" b="0">
                <a:latin typeface="Calibri Light"/>
              </a:defRP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63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D4D04-275F-1120-A846-A38C7BAC2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Ice Breaker – Can you spot the AI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D3CB1-819A-1A79-14EA-4667E6A52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Calibri Light"/>
                <a:cs typeface="Calibri Light"/>
              </a:rPr>
              <a:t>Do you use AI ? How ?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Calibri Light"/>
                <a:cs typeface="Calibri Light"/>
              </a:rPr>
              <a:t>Artificial intelligence is used in a number of ways in our daily lives. Can you spot the AI?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Calibri Light"/>
                <a:cs typeface="Calibri Light"/>
              </a:rPr>
              <a:t>Traffic light changing at fixed intervals 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Calibri Light"/>
                <a:cs typeface="Calibri Light"/>
              </a:rPr>
              <a:t>Face Recognition System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Calibri Light"/>
                <a:cs typeface="Calibri Light"/>
              </a:rPr>
              <a:t>Washing machine with preset timer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Calibri Light"/>
                <a:cs typeface="Calibri Light"/>
              </a:rPr>
              <a:t>Voice assistant 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Calibri Light"/>
                <a:cs typeface="Calibri Light"/>
              </a:rPr>
              <a:t>YouTube video recommendations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Calibri Light"/>
                <a:cs typeface="Calibri Light"/>
              </a:rPr>
              <a:t>Spell check &amp; grammar tools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Calibri Light"/>
                <a:cs typeface="Calibri Light"/>
              </a:rPr>
              <a:t>Google Maps route suggestions</a:t>
            </a:r>
          </a:p>
          <a:p>
            <a:pPr lvl="1">
              <a:defRPr sz="2200" b="0">
                <a:latin typeface="Calibri Light"/>
              </a:defRPr>
            </a:pPr>
            <a:endParaRPr lang="en-US">
              <a:latin typeface="Calibri Light"/>
              <a:ea typeface="Calibri Light"/>
              <a:cs typeface="Calibri Light"/>
            </a:endParaRPr>
          </a:p>
          <a:p>
            <a:pPr>
              <a:spcBef>
                <a:spcPts val="500"/>
              </a:spcBef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Calibri Light"/>
                <a:cs typeface="Calibri Light"/>
              </a:rPr>
              <a:t>Some technologies are </a:t>
            </a:r>
            <a:r>
              <a:rPr lang="en-US" sz="2400" b="1">
                <a:latin typeface="Calibri Light"/>
                <a:ea typeface="Calibri Light"/>
                <a:cs typeface="Calibri Light"/>
              </a:rPr>
              <a:t>automation based, but most are </a:t>
            </a:r>
            <a:r>
              <a:rPr lang="en-US" sz="2400" b="1" err="1">
                <a:latin typeface="Calibri Light"/>
                <a:ea typeface="Calibri Light"/>
                <a:cs typeface="Calibri Light"/>
              </a:rPr>
              <a:t>are</a:t>
            </a:r>
            <a:r>
              <a:rPr lang="en-US" sz="2400" b="1">
                <a:latin typeface="Calibri Light"/>
                <a:ea typeface="Calibri Light"/>
                <a:cs typeface="Calibri Light"/>
              </a:rPr>
              <a:t> evolving with AI integration</a:t>
            </a:r>
          </a:p>
          <a:p>
            <a:pPr marL="0" indent="0">
              <a:spcBef>
                <a:spcPts val="500"/>
              </a:spcBef>
              <a:buNone/>
              <a:defRPr sz="2400" b="0">
                <a:latin typeface="Calibri Light"/>
              </a:defRPr>
            </a:pPr>
            <a:endParaRPr lang="en-US">
              <a:latin typeface="Calibri Light"/>
              <a:ea typeface="Calibri Light"/>
              <a:cs typeface="Calibri Light"/>
            </a:endParaRPr>
          </a:p>
          <a:p>
            <a:pPr lvl="1">
              <a:defRPr sz="2200" b="0">
                <a:latin typeface="Calibri Light"/>
              </a:defRPr>
            </a:pPr>
            <a:endParaRPr lang="en-US">
              <a:latin typeface="Calibri Light"/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endParaRPr lang="en-US">
              <a:latin typeface="Calibri Light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427497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742AA-C3C2-EE1D-144C-897C2105D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marL="228600" indent="-228600" algn="l">
              <a:spcBef>
                <a:spcPts val="500"/>
              </a:spcBef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Traffic lights – Without and With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9C954-5802-F0F9-34FE-D57419F28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2400" b="0">
                <a:latin typeface="Calibri Light"/>
              </a:defRPr>
            </a:pPr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6B9C6E-ED47-8BC9-09B7-9FE622E3373C}"/>
              </a:ext>
            </a:extLst>
          </p:cNvPr>
          <p:cNvGrpSpPr/>
          <p:nvPr/>
        </p:nvGrpSpPr>
        <p:grpSpPr>
          <a:xfrm>
            <a:off x="10678899" y="168131"/>
            <a:ext cx="1218134" cy="1522557"/>
            <a:chOff x="868680" y="1554480"/>
            <a:chExt cx="2651760" cy="4160520"/>
          </a:xfrm>
        </p:grpSpPr>
        <p:sp>
          <p:nvSpPr>
            <p:cNvPr id="5" name="Rounded Rectangle 3">
              <a:extLst>
                <a:ext uri="{FF2B5EF4-FFF2-40B4-BE49-F238E27FC236}">
                  <a16:creationId xmlns:a16="http://schemas.microsoft.com/office/drawing/2014/main" id="{4BE40D2E-CA86-933D-2DD7-FE91DB18B6B6}"/>
                </a:ext>
              </a:extLst>
            </p:cNvPr>
            <p:cNvSpPr/>
            <p:nvPr/>
          </p:nvSpPr>
          <p:spPr>
            <a:xfrm>
              <a:off x="868680" y="1554480"/>
              <a:ext cx="2651760" cy="4160520"/>
            </a:xfrm>
            <a:prstGeom prst="roundRect">
              <a:avLst/>
            </a:prstGeom>
            <a:solidFill>
              <a:srgbClr val="080C12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>
                <a:defRPr sz="2400" b="0">
                  <a:latin typeface="Calibri Light"/>
                </a:defRPr>
              </a:pPr>
              <a:endParaRPr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B0C7175-55AE-5ECB-8EA0-9E1053E5B9CC}"/>
                </a:ext>
              </a:extLst>
            </p:cNvPr>
            <p:cNvSpPr/>
            <p:nvPr/>
          </p:nvSpPr>
          <p:spPr>
            <a:xfrm>
              <a:off x="1607503" y="1828799"/>
              <a:ext cx="1051561" cy="1051561"/>
            </a:xfrm>
            <a:prstGeom prst="ellipse">
              <a:avLst/>
            </a:prstGeom>
            <a:solidFill>
              <a:srgbClr val="F55A5A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55000" lnSpcReduction="20000"/>
            </a:bodyPr>
            <a:lstStyle/>
            <a:p>
              <a:pPr algn="ctr">
                <a:defRPr sz="2400" b="0">
                  <a:latin typeface="Calibri Light"/>
                </a:defRPr>
              </a:pPr>
              <a:endParaRPr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C8385DB-31B2-0965-81A5-B87574A5D7EF}"/>
                </a:ext>
              </a:extLst>
            </p:cNvPr>
            <p:cNvSpPr/>
            <p:nvPr/>
          </p:nvSpPr>
          <p:spPr>
            <a:xfrm>
              <a:off x="1607503" y="2971799"/>
              <a:ext cx="1051561" cy="1051561"/>
            </a:xfrm>
            <a:prstGeom prst="ellipse">
              <a:avLst/>
            </a:prstGeom>
            <a:solidFill>
              <a:srgbClr val="FFD23C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55000" lnSpcReduction="20000"/>
            </a:bodyPr>
            <a:lstStyle/>
            <a:p>
              <a:pPr algn="ctr">
                <a:defRPr sz="2400" b="0">
                  <a:latin typeface="Calibri Light"/>
                </a:defRPr>
              </a:pPr>
              <a:endParaRPr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106F3E4-75CC-CB9E-87C5-C3BA9DBAA2CF}"/>
                </a:ext>
              </a:extLst>
            </p:cNvPr>
            <p:cNvSpPr/>
            <p:nvPr/>
          </p:nvSpPr>
          <p:spPr>
            <a:xfrm>
              <a:off x="1607503" y="4114801"/>
              <a:ext cx="1051561" cy="1051561"/>
            </a:xfrm>
            <a:prstGeom prst="ellipse">
              <a:avLst/>
            </a:prstGeom>
            <a:solidFill>
              <a:srgbClr val="4BD278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55000" lnSpcReduction="20000"/>
            </a:bodyPr>
            <a:lstStyle/>
            <a:p>
              <a:pPr algn="ctr">
                <a:defRPr sz="2400" b="0">
                  <a:latin typeface="Calibri Light"/>
                </a:defRPr>
              </a:pPr>
              <a:endParaRPr/>
            </a:p>
          </p:txBody>
        </p:sp>
      </p:grpSp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A0C7E66A-DBCD-EE61-9717-9B8C762AC3F1}"/>
              </a:ext>
            </a:extLst>
          </p:cNvPr>
          <p:cNvSpPr/>
          <p:nvPr/>
        </p:nvSpPr>
        <p:spPr>
          <a:xfrm>
            <a:off x="594360" y="1876488"/>
            <a:ext cx="3474720" cy="4480560"/>
          </a:xfrm>
          <a:prstGeom prst="roundRect">
            <a:avLst/>
          </a:prstGeom>
          <a:solidFill>
            <a:srgbClr val="1E2834"/>
          </a:solidFill>
          <a:ln w="25400">
            <a:solidFill>
              <a:srgbClr val="F5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400" b="0">
                <a:latin typeface="Calibri Light"/>
              </a:defRPr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287946-051E-DB7E-6B67-04318159B304}"/>
              </a:ext>
            </a:extLst>
          </p:cNvPr>
          <p:cNvSpPr txBox="1"/>
          <p:nvPr/>
        </p:nvSpPr>
        <p:spPr>
          <a:xfrm>
            <a:off x="822960" y="2041080"/>
            <a:ext cx="2292166" cy="52322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l">
              <a:defRPr sz="2400" b="0">
                <a:latin typeface="Calibri Light"/>
              </a:defRPr>
            </a:pPr>
            <a:r>
              <a:rPr sz="2400" b="0">
                <a:solidFill>
                  <a:srgbClr val="F55A5A"/>
                </a:solidFill>
                <a:latin typeface="Calibri Light"/>
              </a:rPr>
              <a:t>LEVEL 1 — </a:t>
            </a:r>
            <a:endParaRPr lang="en-US" sz="1400" b="1">
              <a:solidFill>
                <a:srgbClr val="F55A5A"/>
              </a:solidFill>
              <a:latin typeface="Aptos"/>
            </a:endParaRPr>
          </a:p>
          <a:p>
            <a:pPr algn="l">
              <a:defRPr sz="2400" b="0">
                <a:latin typeface="Calibri Light"/>
              </a:defRPr>
            </a:pPr>
            <a:r>
              <a:rPr sz="2400" b="0">
                <a:solidFill>
                  <a:srgbClr val="F55A5A"/>
                </a:solidFill>
                <a:latin typeface="Calibri Light"/>
              </a:rPr>
              <a:t>MANUAL / FIXED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BFF7F8-B555-31AF-45D0-0F9496B5455A}"/>
              </a:ext>
            </a:extLst>
          </p:cNvPr>
          <p:cNvSpPr txBox="1"/>
          <p:nvPr/>
        </p:nvSpPr>
        <p:spPr>
          <a:xfrm>
            <a:off x="822960" y="2856241"/>
            <a:ext cx="3129608" cy="3139321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>
              <a:defRPr sz="2400" b="0">
                <a:latin typeface="Calibri Light"/>
              </a:defRPr>
            </a:pPr>
            <a:r>
              <a:rPr sz="2400" b="0">
                <a:solidFill>
                  <a:schemeClr val="bg2"/>
                </a:solidFill>
                <a:latin typeface="Calibri Light"/>
              </a:rPr>
              <a:t>• Signal changes after fixed time</a:t>
            </a:r>
            <a:br>
              <a:rPr>
                <a:solidFill>
                  <a:schemeClr val="bg2"/>
                </a:solidFill>
              </a:rPr>
            </a:br>
            <a:br>
              <a:rPr>
                <a:solidFill>
                  <a:schemeClr val="bg2"/>
                </a:solidFill>
              </a:rPr>
            </a:br>
            <a:r>
              <a:rPr sz="2400" b="0">
                <a:solidFill>
                  <a:schemeClr val="bg2"/>
                </a:solidFill>
                <a:latin typeface="Calibri Light"/>
              </a:rPr>
              <a:t>• Example: Green = 60 seconds</a:t>
            </a:r>
            <a:br>
              <a:rPr>
                <a:solidFill>
                  <a:schemeClr val="bg2"/>
                </a:solidFill>
              </a:rPr>
            </a:br>
            <a:br>
              <a:rPr>
                <a:solidFill>
                  <a:schemeClr val="bg2"/>
                </a:solidFill>
              </a:rPr>
            </a:br>
            <a:r>
              <a:rPr sz="2400" b="0">
                <a:solidFill>
                  <a:schemeClr val="bg2"/>
                </a:solidFill>
                <a:latin typeface="Calibri Light"/>
              </a:rPr>
              <a:t>• Same schedule whether road is empty or crowded</a:t>
            </a:r>
            <a:br>
              <a:rPr>
                <a:solidFill>
                  <a:schemeClr val="bg2"/>
                </a:solidFill>
              </a:rPr>
            </a:br>
            <a:br>
              <a:rPr>
                <a:solidFill>
                  <a:schemeClr val="bg2"/>
                </a:solidFill>
              </a:rPr>
            </a:br>
            <a:r>
              <a:rPr sz="2400" b="0">
                <a:solidFill>
                  <a:schemeClr val="bg2"/>
                </a:solidFill>
                <a:latin typeface="Calibri Light"/>
              </a:rPr>
              <a:t>• Simple, predictable, but inefficient</a:t>
            </a:r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63F91195-822E-F22E-D157-96500170D630}"/>
              </a:ext>
            </a:extLst>
          </p:cNvPr>
          <p:cNvSpPr/>
          <p:nvPr/>
        </p:nvSpPr>
        <p:spPr>
          <a:xfrm>
            <a:off x="4343400" y="1876488"/>
            <a:ext cx="3474720" cy="4480560"/>
          </a:xfrm>
          <a:prstGeom prst="roundRect">
            <a:avLst/>
          </a:prstGeom>
          <a:solidFill>
            <a:srgbClr val="1E2834"/>
          </a:solidFill>
          <a:ln w="25400">
            <a:solidFill>
              <a:srgbClr val="FFD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400" b="0">
                <a:latin typeface="Calibri Light"/>
              </a:defRPr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F18F78-B758-0AD0-2431-D31D2DD990BA}"/>
              </a:ext>
            </a:extLst>
          </p:cNvPr>
          <p:cNvSpPr txBox="1"/>
          <p:nvPr/>
        </p:nvSpPr>
        <p:spPr>
          <a:xfrm>
            <a:off x="4572000" y="2041080"/>
            <a:ext cx="1925784" cy="738664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l">
              <a:defRPr sz="2400" b="0">
                <a:latin typeface="Calibri Light"/>
              </a:defRPr>
            </a:pPr>
            <a:r>
              <a:rPr sz="2400" b="0">
                <a:solidFill>
                  <a:srgbClr val="FFD23C"/>
                </a:solidFill>
                <a:latin typeface="Calibri Light"/>
              </a:rPr>
              <a:t>LEVEL 2 — </a:t>
            </a:r>
            <a:endParaRPr lang="en-US" sz="1400" b="1">
              <a:solidFill>
                <a:srgbClr val="FFD23C"/>
              </a:solidFill>
              <a:latin typeface="Aptos"/>
            </a:endParaRPr>
          </a:p>
          <a:p>
            <a:pPr algn="l">
              <a:defRPr sz="2400" b="0">
                <a:latin typeface="Calibri Light"/>
              </a:defRPr>
            </a:pPr>
            <a:r>
              <a:rPr lang="en-US" sz="2400" b="0">
                <a:solidFill>
                  <a:srgbClr val="FFD23C"/>
                </a:solidFill>
                <a:latin typeface="Calibri Light"/>
              </a:rPr>
              <a:t>RULE BASED </a:t>
            </a:r>
            <a:r>
              <a:rPr sz="2400" b="0">
                <a:solidFill>
                  <a:srgbClr val="FFD23C"/>
                </a:solidFill>
                <a:latin typeface="Calibri Light"/>
              </a:rPr>
              <a:t>AUTOMATION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D4A229-029E-27D0-9D1A-2F5FB17037F1}"/>
              </a:ext>
            </a:extLst>
          </p:cNvPr>
          <p:cNvSpPr txBox="1"/>
          <p:nvPr/>
        </p:nvSpPr>
        <p:spPr>
          <a:xfrm>
            <a:off x="4572000" y="2824106"/>
            <a:ext cx="3017520" cy="2862322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l">
              <a:defRPr sz="2400" b="0">
                <a:latin typeface="Calibri Light"/>
              </a:defRPr>
            </a:pPr>
            <a:r>
              <a:rPr sz="2400" b="0">
                <a:solidFill>
                  <a:schemeClr val="bg2"/>
                </a:solidFill>
                <a:latin typeface="Calibri Light"/>
              </a:rPr>
              <a:t>• Sensors detect traffic</a:t>
            </a:r>
            <a:br>
              <a:rPr>
                <a:solidFill>
                  <a:schemeClr val="bg2"/>
                </a:solidFill>
              </a:rPr>
            </a:br>
            <a:br>
              <a:rPr>
                <a:solidFill>
                  <a:schemeClr val="bg2"/>
                </a:solidFill>
              </a:rPr>
            </a:br>
            <a:r>
              <a:rPr sz="2400" b="0">
                <a:solidFill>
                  <a:schemeClr val="bg2"/>
                </a:solidFill>
                <a:latin typeface="Calibri Light"/>
              </a:rPr>
              <a:t>• Rules decide the next signal</a:t>
            </a:r>
            <a:br>
              <a:rPr>
                <a:solidFill>
                  <a:schemeClr val="bg2"/>
                </a:solidFill>
              </a:rPr>
            </a:br>
            <a:br>
              <a:rPr>
                <a:solidFill>
                  <a:schemeClr val="bg2"/>
                </a:solidFill>
              </a:rPr>
            </a:br>
            <a:r>
              <a:rPr sz="2400" b="0">
                <a:solidFill>
                  <a:schemeClr val="bg2"/>
                </a:solidFill>
                <a:latin typeface="Calibri Light"/>
              </a:rPr>
              <a:t>• Example: extend green if more vehicles are waiting</a:t>
            </a:r>
            <a:br>
              <a:rPr>
                <a:solidFill>
                  <a:schemeClr val="bg2"/>
                </a:solidFill>
              </a:rPr>
            </a:br>
            <a:br>
              <a:rPr>
                <a:solidFill>
                  <a:schemeClr val="bg2"/>
                </a:solidFill>
              </a:rPr>
            </a:br>
            <a:r>
              <a:rPr sz="2400" b="0">
                <a:solidFill>
                  <a:schemeClr val="bg2"/>
                </a:solidFill>
                <a:latin typeface="Calibri Light"/>
              </a:rPr>
              <a:t>• Faster response, but rules must be predefined</a:t>
            </a:r>
          </a:p>
        </p:txBody>
      </p:sp>
      <p:sp>
        <p:nvSpPr>
          <p:cNvPr id="32" name="Rounded Rectangle 8">
            <a:extLst>
              <a:ext uri="{FF2B5EF4-FFF2-40B4-BE49-F238E27FC236}">
                <a16:creationId xmlns:a16="http://schemas.microsoft.com/office/drawing/2014/main" id="{ED0451DD-E486-A0E2-F184-39C0E540C332}"/>
              </a:ext>
            </a:extLst>
          </p:cNvPr>
          <p:cNvSpPr/>
          <p:nvPr/>
        </p:nvSpPr>
        <p:spPr>
          <a:xfrm>
            <a:off x="8198119" y="1759685"/>
            <a:ext cx="3474720" cy="4480560"/>
          </a:xfrm>
          <a:prstGeom prst="roundRect">
            <a:avLst/>
          </a:prstGeom>
          <a:solidFill>
            <a:srgbClr val="1E2834"/>
          </a:solidFill>
          <a:ln w="25400">
            <a:solidFill>
              <a:srgbClr val="4B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2400" b="0">
                <a:latin typeface="Calibri Light"/>
              </a:defRPr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2D9B6F-8814-EF93-0EEF-AC1A06941772}"/>
              </a:ext>
            </a:extLst>
          </p:cNvPr>
          <p:cNvSpPr txBox="1"/>
          <p:nvPr/>
        </p:nvSpPr>
        <p:spPr>
          <a:xfrm>
            <a:off x="8321040" y="2041080"/>
            <a:ext cx="1614288" cy="52322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algn="l">
              <a:defRPr sz="2400" b="0">
                <a:latin typeface="Calibri Light"/>
              </a:defRPr>
            </a:pPr>
            <a:r>
              <a:rPr sz="2400" b="0">
                <a:solidFill>
                  <a:srgbClr val="4BD278"/>
                </a:solidFill>
                <a:latin typeface="Calibri Light"/>
              </a:rPr>
              <a:t>LEVEL 3 — </a:t>
            </a:r>
            <a:endParaRPr lang="en-US" sz="1400" b="1">
              <a:solidFill>
                <a:srgbClr val="4BD278"/>
              </a:solidFill>
              <a:latin typeface="Aptos"/>
            </a:endParaRPr>
          </a:p>
          <a:p>
            <a:pPr algn="l">
              <a:defRPr sz="2400" b="0">
                <a:latin typeface="Calibri Light"/>
              </a:defRPr>
            </a:pPr>
            <a:r>
              <a:rPr lang="en-US" sz="2400" b="0">
                <a:solidFill>
                  <a:srgbClr val="4BD278"/>
                </a:solidFill>
                <a:latin typeface="Calibri Light"/>
              </a:rPr>
              <a:t>DATA DRIVEN AI</a:t>
            </a:r>
            <a:endParaRPr sz="1400" b="1">
              <a:solidFill>
                <a:srgbClr val="4BD278"/>
              </a:solidFill>
              <a:latin typeface="Apto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48324E-9EC7-CAEE-8ECF-C1ADAC902D6F}"/>
              </a:ext>
            </a:extLst>
          </p:cNvPr>
          <p:cNvSpPr txBox="1"/>
          <p:nvPr/>
        </p:nvSpPr>
        <p:spPr>
          <a:xfrm>
            <a:off x="8321040" y="2726880"/>
            <a:ext cx="2887734" cy="2862322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l">
              <a:defRPr sz="2400" b="0">
                <a:latin typeface="Calibri Light"/>
              </a:defRPr>
            </a:pPr>
            <a:r>
              <a:rPr sz="2400" b="0">
                <a:solidFill>
                  <a:schemeClr val="bg2"/>
                </a:solidFill>
                <a:latin typeface="Calibri Light"/>
              </a:rPr>
              <a:t>• Uses current + historical traffic data</a:t>
            </a:r>
            <a:br>
              <a:rPr>
                <a:solidFill>
                  <a:schemeClr val="bg2"/>
                </a:solidFill>
              </a:rPr>
            </a:br>
            <a:br>
              <a:rPr>
                <a:solidFill>
                  <a:schemeClr val="bg2"/>
                </a:solidFill>
              </a:rPr>
            </a:br>
            <a:r>
              <a:rPr sz="2400" b="0">
                <a:solidFill>
                  <a:schemeClr val="bg2"/>
                </a:solidFill>
                <a:latin typeface="Calibri Light"/>
              </a:rPr>
              <a:t>• Predicts congestion</a:t>
            </a:r>
            <a:br>
              <a:rPr>
                <a:solidFill>
                  <a:schemeClr val="bg2"/>
                </a:solidFill>
              </a:rPr>
            </a:br>
            <a:br>
              <a:rPr>
                <a:solidFill>
                  <a:schemeClr val="bg2"/>
                </a:solidFill>
              </a:rPr>
            </a:br>
            <a:r>
              <a:rPr sz="2400" b="0">
                <a:solidFill>
                  <a:schemeClr val="bg2"/>
                </a:solidFill>
                <a:latin typeface="Calibri Light"/>
              </a:rPr>
              <a:t>• Optimizes signal timing across intersections</a:t>
            </a:r>
            <a:br>
              <a:rPr>
                <a:solidFill>
                  <a:schemeClr val="bg2"/>
                </a:solidFill>
              </a:rPr>
            </a:br>
            <a:br>
              <a:rPr>
                <a:solidFill>
                  <a:schemeClr val="bg2"/>
                </a:solidFill>
              </a:rPr>
            </a:br>
            <a:r>
              <a:rPr sz="2400" b="0">
                <a:solidFill>
                  <a:schemeClr val="bg2"/>
                </a:solidFill>
                <a:latin typeface="Calibri Light"/>
              </a:rPr>
              <a:t>• Can improve its decisions from data</a:t>
            </a:r>
          </a:p>
        </p:txBody>
      </p:sp>
    </p:spTree>
    <p:extLst>
      <p:ext uri="{BB962C8B-B14F-4D97-AF65-F5344CB8AC3E}">
        <p14:creationId xmlns:p14="http://schemas.microsoft.com/office/powerpoint/2010/main" val="300182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36D83-8826-3B3F-03E4-6A6217596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4EF3-8809-8CE1-4B26-0A929FEFC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Understanding AI from basics</a:t>
            </a:r>
          </a:p>
        </p:txBody>
      </p:sp>
    </p:spTree>
    <p:extLst>
      <p:ext uri="{BB962C8B-B14F-4D97-AF65-F5344CB8AC3E}">
        <p14:creationId xmlns:p14="http://schemas.microsoft.com/office/powerpoint/2010/main" val="659430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CEFF3-4DF2-01E9-3BE7-8613D14DE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4CBD3-0101-2180-6A08-3ECC5961A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What is Intelligence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43253-33DF-C728-44EF-0AE21540F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Is it only to know? No, it is the </a:t>
            </a:r>
            <a:r>
              <a:rPr lang="en-US" sz="2400" b="1">
                <a:latin typeface="Calibri Light"/>
                <a:ea typeface="+mn-lt"/>
                <a:cs typeface="+mn-lt"/>
              </a:rPr>
              <a:t>ability to learn, think, understand, solve problems, and apply knowledge </a:t>
            </a:r>
            <a:r>
              <a:rPr lang="en-US" sz="2400" b="0">
                <a:latin typeface="Calibri Light"/>
                <a:ea typeface="+mn-lt"/>
                <a:cs typeface="+mn-lt"/>
              </a:rPr>
              <a:t>effectively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Not just knowing, but a </a:t>
            </a:r>
            <a:r>
              <a:rPr lang="en-US" sz="2400" b="1">
                <a:latin typeface="Calibri Light"/>
                <a:ea typeface="+mn-lt"/>
                <a:cs typeface="+mn-lt"/>
              </a:rPr>
              <a:t>combination </a:t>
            </a:r>
            <a:r>
              <a:rPr lang="en-US" sz="2400" b="0">
                <a:latin typeface="Calibri Light"/>
                <a:ea typeface="+mn-lt"/>
                <a:cs typeface="+mn-lt"/>
              </a:rPr>
              <a:t>of many mental abilities</a:t>
            </a:r>
            <a:endParaRPr lang="en-US">
              <a:ea typeface="+mn-lt"/>
              <a:cs typeface="+mn-lt"/>
            </a:endParaRP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Ability to adapt to new situations and make appropriate decisions based on </a:t>
            </a:r>
            <a:r>
              <a:rPr lang="en-US" sz="2400" b="1">
                <a:latin typeface="Calibri Light"/>
                <a:ea typeface="+mn-lt"/>
                <a:cs typeface="+mn-lt"/>
              </a:rPr>
              <a:t>experience</a:t>
            </a:r>
            <a:endParaRPr lang="en-US" b="1">
              <a:ea typeface="+mn-lt"/>
              <a:cs typeface="+mn-lt"/>
            </a:endParaRP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Ability to work with </a:t>
            </a:r>
            <a:r>
              <a:rPr lang="en-US" sz="2400" b="1">
                <a:latin typeface="Calibri Light"/>
                <a:ea typeface="+mn-lt"/>
                <a:cs typeface="+mn-lt"/>
              </a:rPr>
              <a:t>gaps in information, to estimate, to guess</a:t>
            </a:r>
            <a:endParaRPr lang="en-US" b="1"/>
          </a:p>
          <a:p>
            <a:pPr>
              <a:defRPr sz="2400" b="0">
                <a:latin typeface="Calibri Light"/>
              </a:defRPr>
            </a:pPr>
            <a:endParaRPr lang="en-US"/>
          </a:p>
          <a:p>
            <a:pPr>
              <a:defRPr sz="2400" b="0">
                <a:latin typeface="Calibri Light"/>
              </a:defRPr>
            </a:pPr>
            <a:endParaRPr lang="en-US"/>
          </a:p>
          <a:p>
            <a:pPr>
              <a:defRPr sz="2400" b="0">
                <a:latin typeface="Calibri Light"/>
              </a:defRPr>
            </a:pPr>
            <a:endParaRPr lang="en-US"/>
          </a:p>
          <a:p>
            <a:pPr>
              <a:defRPr sz="2400" b="0">
                <a:latin typeface="Calibri Light"/>
              </a:defRPr>
            </a:pPr>
            <a:endParaRPr lang="en-US"/>
          </a:p>
          <a:p>
            <a:pPr>
              <a:defRPr sz="2400" b="0">
                <a:latin typeface="Calibri Light"/>
              </a:defRPr>
            </a:pP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Do you agree? Do you have any other inputs?</a:t>
            </a:r>
          </a:p>
          <a:p>
            <a:pPr>
              <a:defRPr sz="2400" b="0">
                <a:latin typeface="Calibri Light"/>
              </a:defRP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19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E7992-8EB5-78EC-C454-43E486B71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73218-2E84-C201-C946-859FA7EE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What is Artificial Intelligence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79765-8E5E-36CC-175F-66FCE9FF8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Artificial Intelligence (AI) is the field of computer science that </a:t>
            </a:r>
            <a:r>
              <a:rPr lang="en-US" sz="2400" b="1">
                <a:latin typeface="Calibri Light"/>
                <a:ea typeface="+mn-lt"/>
                <a:cs typeface="+mn-lt"/>
              </a:rPr>
              <a:t>enables machines to perform tasks that tries to mimic human intelligence</a:t>
            </a:r>
            <a:r>
              <a:rPr lang="en-US" sz="2400" b="0">
                <a:latin typeface="Calibri Light"/>
                <a:ea typeface="+mn-lt"/>
                <a:cs typeface="+mn-lt"/>
              </a:rPr>
              <a:t>. 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These machines can conduct </a:t>
            </a:r>
            <a:r>
              <a:rPr lang="en-US" sz="2400" b="1">
                <a:latin typeface="Calibri Light"/>
                <a:ea typeface="+mn-lt"/>
                <a:cs typeface="+mn-lt"/>
              </a:rPr>
              <a:t>complex thinking processes </a:t>
            </a:r>
            <a:r>
              <a:rPr lang="en-US" sz="2400" b="0">
                <a:latin typeface="Calibri Light"/>
                <a:ea typeface="+mn-lt"/>
                <a:cs typeface="+mn-lt"/>
              </a:rPr>
              <a:t>such as data analysis, pattern recognition, prediction of trends, solving problems, and decision-making by using data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AI systems are </a:t>
            </a:r>
            <a:r>
              <a:rPr lang="en-US" sz="2400" b="1">
                <a:latin typeface="Calibri Light"/>
                <a:ea typeface="+mn-lt"/>
                <a:cs typeface="+mn-lt"/>
              </a:rPr>
              <a:t>designed to learn, adapt, and improve their performance </a:t>
            </a:r>
            <a:r>
              <a:rPr lang="en-US" sz="2400" b="0">
                <a:latin typeface="Calibri Light"/>
                <a:ea typeface="+mn-lt"/>
                <a:cs typeface="+mn-lt"/>
              </a:rPr>
              <a:t>over a period of time (experience through data).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1">
                <a:latin typeface="Calibri Light"/>
                <a:ea typeface="+mn-lt"/>
                <a:cs typeface="+mn-lt"/>
              </a:rPr>
              <a:t>AI = Man-made, Computing + Intelligence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Artificial Intelligenc</a:t>
            </a:r>
            <a:r>
              <a:rPr lang="en-US" sz="2400">
                <a:latin typeface="Calibri Light"/>
                <a:ea typeface="+mn-lt"/>
                <a:cs typeface="+mn-lt"/>
              </a:rPr>
              <a:t>e </a:t>
            </a:r>
            <a:r>
              <a:rPr lang="en-US" sz="2400" b="1">
                <a:latin typeface="Calibri Light"/>
                <a:ea typeface="+mn-lt"/>
                <a:cs typeface="+mn-lt"/>
              </a:rPr>
              <a:t>cannot be equated </a:t>
            </a:r>
            <a:r>
              <a:rPr lang="en-US" sz="2400">
                <a:latin typeface="Calibri Light"/>
                <a:ea typeface="+mn-lt"/>
                <a:cs typeface="+mn-lt"/>
              </a:rPr>
              <a:t>to Human Intelligence which includes more aspects like empathy, conscience and ethics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>
                <a:latin typeface="Calibri Light"/>
                <a:ea typeface="+mn-lt"/>
                <a:cs typeface="+mn-lt"/>
              </a:rPr>
              <a:t>It is acquired </a:t>
            </a:r>
            <a:r>
              <a:rPr lang="en-US" sz="2400" b="1">
                <a:latin typeface="Calibri Light"/>
                <a:ea typeface="+mn-lt"/>
                <a:cs typeface="+mn-lt"/>
              </a:rPr>
              <a:t>through data and training </a:t>
            </a:r>
            <a:r>
              <a:rPr lang="en-US" sz="2400">
                <a:latin typeface="Calibri Light"/>
                <a:ea typeface="+mn-lt"/>
                <a:cs typeface="+mn-lt"/>
              </a:rPr>
              <a:t>by humans</a:t>
            </a:r>
            <a:endParaRPr lang="en-US" sz="2400">
              <a:latin typeface="Calibri Light"/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>
                <a:ea typeface="Calibri Light"/>
                <a:cs typeface="Calibri Light"/>
              </a:rPr>
              <a:t>Many advancements in Science, Technology, Engineering and Maths have led to the development of AI </a:t>
            </a:r>
          </a:p>
        </p:txBody>
      </p:sp>
    </p:spTree>
    <p:extLst>
      <p:ext uri="{BB962C8B-B14F-4D97-AF65-F5344CB8AC3E}">
        <p14:creationId xmlns:p14="http://schemas.microsoft.com/office/powerpoint/2010/main" val="2500525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9FDFC-0CD8-F2B5-FA22-094DAE199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Let us consider this scenario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60C54-2DDB-1CD1-52BF-C0BDE6BBD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/>
              <a:t>Imagine there are 2 helpers assigned to you </a:t>
            </a:r>
            <a:endParaRPr lang="en-US" sz="2400">
              <a:ea typeface="Calibri Light"/>
              <a:cs typeface="Calibri Light"/>
            </a:endParaRPr>
          </a:p>
          <a:p>
            <a:pPr lvl="1">
              <a:defRPr sz="2400" b="0">
                <a:latin typeface="Calibri Light"/>
              </a:defRPr>
            </a:pPr>
            <a:r>
              <a:rPr lang="en-US"/>
              <a:t>Assistant 1: Uses a fixed handbook and answers only questions found in it. </a:t>
            </a:r>
            <a:endParaRPr lang="en-US">
              <a:ea typeface="Calibri Light"/>
              <a:cs typeface="Calibri Light"/>
            </a:endParaRPr>
          </a:p>
          <a:p>
            <a:pPr lvl="1">
              <a:defRPr sz="2400" b="0">
                <a:latin typeface="Calibri Light"/>
              </a:defRPr>
            </a:pPr>
            <a:r>
              <a:rPr lang="en-US"/>
              <a:t>Assistant 2: Learns from thousands of books and conversations, so it can answer even new questions but cannot give source of the answer  </a:t>
            </a:r>
            <a:endParaRPr lang="en-US"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 sz="2400"/>
              <a:t>Lets discuss</a:t>
            </a:r>
            <a:endParaRPr lang="en-US" sz="2400">
              <a:ea typeface="Calibri Light"/>
              <a:cs typeface="Calibri Light"/>
            </a:endParaRPr>
          </a:p>
          <a:p>
            <a:pPr lvl="1">
              <a:defRPr sz="2400" b="0">
                <a:latin typeface="Calibri Light"/>
              </a:defRPr>
            </a:pPr>
            <a:r>
              <a:rPr lang="en-US"/>
              <a:t>Which assistant is better for new situations? </a:t>
            </a:r>
            <a:endParaRPr lang="en-US">
              <a:ea typeface="Calibri Light"/>
              <a:cs typeface="Calibri Light"/>
            </a:endParaRPr>
          </a:p>
          <a:p>
            <a:pPr lvl="1">
              <a:defRPr sz="2400" b="0">
                <a:latin typeface="Calibri Light"/>
              </a:defRPr>
            </a:pPr>
            <a:r>
              <a:rPr lang="en-US"/>
              <a:t>Which assistant is better when accuracy is critical? </a:t>
            </a:r>
            <a:endParaRPr lang="en-US">
              <a:ea typeface="Calibri Light"/>
              <a:cs typeface="Calibri Light"/>
            </a:endParaRPr>
          </a:p>
          <a:p>
            <a:pPr lvl="1">
              <a:defRPr sz="2400" b="0">
                <a:latin typeface="Calibri Light"/>
              </a:defRPr>
            </a:pPr>
            <a:r>
              <a:rPr lang="en-US"/>
              <a:t>What are the strengths and limitations of each? </a:t>
            </a:r>
            <a:endParaRPr lang="en-US"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 sz="2400"/>
              <a:t>We can say that </a:t>
            </a:r>
            <a:endParaRPr lang="en-US" sz="2400">
              <a:ea typeface="Calibri Light"/>
              <a:cs typeface="Calibri Light"/>
            </a:endParaRPr>
          </a:p>
          <a:p>
            <a:pPr lvl="1">
              <a:defRPr sz="2400" b="0">
                <a:latin typeface="Calibri Light"/>
              </a:defRPr>
            </a:pPr>
            <a:r>
              <a:rPr lang="en-US"/>
              <a:t>Assistant 1 = Rule-Based System: Follows fixed rules, reliable for predictable tasks. </a:t>
            </a:r>
            <a:endParaRPr lang="en-US">
              <a:ea typeface="Calibri Light"/>
              <a:cs typeface="Calibri Light"/>
            </a:endParaRPr>
          </a:p>
          <a:p>
            <a:pPr lvl="1">
              <a:defRPr sz="2400" b="0">
                <a:latin typeface="Calibri Light"/>
              </a:defRPr>
            </a:pPr>
            <a:r>
              <a:rPr lang="en-US"/>
              <a:t>Assistant 2 = Learning-Based AI: Learns from data, adapts to new situations, but may not always be 100% accurate.</a:t>
            </a:r>
            <a:endParaRPr lang="en-US"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 b="1">
                <a:ea typeface="Calibri Light"/>
                <a:cs typeface="Calibri Light"/>
              </a:rPr>
              <a:t>AI Based Solutions are trained to be like Assistant 2 </a:t>
            </a:r>
          </a:p>
          <a:p>
            <a:pPr>
              <a:defRPr sz="2400" b="0">
                <a:latin typeface="Calibri Light"/>
              </a:defRPr>
            </a:pPr>
            <a:endParaRPr lang="en-US" sz="2400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438893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C170C-8E03-BF9C-4D91-3530277E2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Why is AI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05D95-D098-8EB2-6842-9D7E14F5C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>
                <a:latin typeface="Calibri Light"/>
              </a:rPr>
              <a:t>Some problems </a:t>
            </a:r>
            <a:r>
              <a:rPr lang="en-US" sz="2400" b="1">
                <a:latin typeface="Calibri Light"/>
              </a:rPr>
              <a:t>cannot be solved with traditional programming</a:t>
            </a:r>
            <a:r>
              <a:rPr lang="en-US" sz="2400">
                <a:latin typeface="Calibri Light"/>
              </a:rPr>
              <a:t> – facial recognition, handwriting recognition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US" sz="2400">
                <a:latin typeface="Calibri Light"/>
              </a:rPr>
              <a:t>AI</a:t>
            </a:r>
            <a:r>
              <a:rPr lang="en-US" sz="2400" b="0">
                <a:latin typeface="Calibri Light"/>
              </a:rPr>
              <a:t> </a:t>
            </a:r>
            <a:r>
              <a:rPr lang="en-US" sz="2400" b="1">
                <a:latin typeface="Calibri Light"/>
              </a:rPr>
              <a:t>can learn from huge amounts of data </a:t>
            </a:r>
            <a:r>
              <a:rPr lang="en-US" sz="2400" b="0">
                <a:latin typeface="Calibri Light"/>
              </a:rPr>
              <a:t>(millions of records, data, images, signals etc.)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AI </a:t>
            </a:r>
            <a:r>
              <a:rPr lang="en-US" sz="2400" b="1">
                <a:latin typeface="Calibri Light"/>
              </a:rPr>
              <a:t>can find patterns </a:t>
            </a:r>
            <a:r>
              <a:rPr lang="en-US" sz="2400" b="0">
                <a:latin typeface="Calibri Light"/>
              </a:rPr>
              <a:t>across very large datasets.</a:t>
            </a:r>
            <a:endParaRPr lang="en-US" sz="2400" b="0">
              <a:latin typeface="Calibri Light"/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AI </a:t>
            </a:r>
            <a:r>
              <a:rPr lang="en-US" sz="2400" b="1">
                <a:latin typeface="Calibri Light"/>
              </a:rPr>
              <a:t>can automate </a:t>
            </a:r>
            <a:r>
              <a:rPr lang="en-US" sz="2400" b="0">
                <a:latin typeface="Calibri Light"/>
              </a:rPr>
              <a:t>complex cognitive tasks</a:t>
            </a:r>
            <a:endParaRPr lang="en-US" sz="2400" b="0">
              <a:latin typeface="Calibri Light"/>
              <a:ea typeface="Calibri Light"/>
              <a:cs typeface="Calibri Light"/>
            </a:endParaRPr>
          </a:p>
          <a:p>
            <a:pPr>
              <a:defRPr sz="2200" b="0">
                <a:latin typeface="Calibri Light"/>
              </a:defRPr>
            </a:pPr>
            <a:r>
              <a:rPr lang="en-US" sz="2400" b="0">
                <a:latin typeface="Calibri Light"/>
              </a:rPr>
              <a:t>AI </a:t>
            </a:r>
            <a:r>
              <a:rPr lang="en-US" sz="2400" b="1">
                <a:latin typeface="Calibri Light"/>
              </a:rPr>
              <a:t>can help humans</a:t>
            </a:r>
            <a:r>
              <a:rPr lang="en-US" sz="2400" b="0">
                <a:latin typeface="Calibri Light"/>
              </a:rPr>
              <a:t> make better decisions</a:t>
            </a:r>
            <a:endParaRPr lang="en-US" sz="2400" b="0">
              <a:latin typeface="Calibri Light"/>
              <a:ea typeface="Calibri Light"/>
              <a:cs typeface="Calibri Light"/>
            </a:endParaRP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Predicting traffic congestion </a:t>
            </a:r>
            <a:endParaRPr lang="en-US" sz="2200" b="0">
              <a:latin typeface="Calibri Light"/>
              <a:ea typeface="Calibri Light"/>
              <a:cs typeface="Calibri Light"/>
            </a:endParaRP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Forecasting weather </a:t>
            </a:r>
            <a:endParaRPr lang="en-US" sz="2200" b="0">
              <a:latin typeface="Calibri Light"/>
              <a:ea typeface="Calibri Light"/>
              <a:cs typeface="Calibri Light"/>
            </a:endParaRP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Detecting financial fraud</a:t>
            </a:r>
            <a:endParaRPr lang="en-US" sz="2200" b="0">
              <a:latin typeface="Calibri Light"/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AI </a:t>
            </a:r>
            <a:r>
              <a:rPr lang="en-US" sz="2400" b="1">
                <a:latin typeface="Calibri Light"/>
              </a:rPr>
              <a:t>can make technology more accessible</a:t>
            </a:r>
            <a:endParaRPr lang="en-US" sz="2400" b="1">
              <a:latin typeface="Calibri Light"/>
              <a:ea typeface="Calibri Light"/>
              <a:cs typeface="Calibri Light"/>
            </a:endParaRP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Describe images , Convert speech to text , Convert text to speech , Recognize objects , Translate languages , Generate alternative descriptions</a:t>
            </a:r>
            <a:endParaRPr lang="en-US" sz="2200" b="0">
              <a:latin typeface="Calibri Light"/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AI </a:t>
            </a:r>
            <a:r>
              <a:rPr lang="en-US" sz="2400" b="1">
                <a:latin typeface="Calibri Light"/>
              </a:rPr>
              <a:t>can apply learnings to create </a:t>
            </a:r>
            <a:r>
              <a:rPr lang="en-US" sz="2400" b="0">
                <a:latin typeface="Calibri Light"/>
              </a:rPr>
              <a:t>new solutions and data</a:t>
            </a:r>
            <a:endParaRPr lang="en-US" sz="2400" b="0">
              <a:latin typeface="Calibri Light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794474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E55E4-6F99-684F-DBC9-FD60FF64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Where is AI being used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7D26C-0376-26D1-83FE-27DBB6CAF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Medical Applications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Kidney stone detection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Brain Tumor detection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Office automation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Banking applications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Agricultural applications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Weather forecasting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Traffic management (smart signals)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Education 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Almost all the fields</a:t>
            </a:r>
          </a:p>
          <a:p>
            <a:pPr>
              <a:defRPr sz="2400" b="0">
                <a:latin typeface="Calibri Light"/>
              </a:defRPr>
            </a:pPr>
            <a:endParaRPr lang="en-US" sz="2400">
              <a:latin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Do you know any other fields?</a:t>
            </a:r>
          </a:p>
          <a:p>
            <a:pPr>
              <a:defRPr sz="2400" b="0">
                <a:latin typeface="Calibri Light"/>
              </a:defRPr>
            </a:pPr>
            <a:endParaRPr lang="en-US"/>
          </a:p>
          <a:p>
            <a:pPr>
              <a:defRPr sz="2400" b="0">
                <a:latin typeface="Calibri Light"/>
              </a:defRP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33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1F698-219C-C066-D43C-2CA28A265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34F3-D14D-59F2-1769-FD5B4576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make a machine intelligent?</a:t>
            </a:r>
          </a:p>
        </p:txBody>
      </p:sp>
    </p:spTree>
    <p:extLst>
      <p:ext uri="{BB962C8B-B14F-4D97-AF65-F5344CB8AC3E}">
        <p14:creationId xmlns:p14="http://schemas.microsoft.com/office/powerpoint/2010/main" val="2586773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F8EEC-4B1E-DDBE-A843-E361CF91E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44" y="4114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How to make a machine learn and think?</a:t>
            </a:r>
            <a:endParaRPr lang="en-US"/>
          </a:p>
          <a:p>
            <a:pPr algn="l">
              <a:defRPr sz="3600" b="1">
                <a:latin typeface="Calibri Light"/>
              </a:defRPr>
            </a:pP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C6E3F-4B9A-4B1D-75D5-3D3C6D80A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 fontScale="92500" lnSpcReduction="10000"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Instead of explicitly programming rules ("If X do Y"), we feed the computer data and let it learn the rules itself.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Traditional Programming</a:t>
            </a:r>
            <a:endParaRPr lang="en-US" sz="2400" b="0">
              <a:latin typeface="Calibri Light"/>
              <a:ea typeface="Calibri Light"/>
              <a:cs typeface="Calibri Light"/>
            </a:endParaRP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+mn-lt"/>
                <a:cs typeface="+mn-lt"/>
              </a:rPr>
              <a:t>Program → Computer → Output</a:t>
            </a:r>
            <a:endParaRPr lang="en-US"/>
          </a:p>
          <a:p>
            <a:pPr lvl="1">
              <a:defRPr sz="2400" b="0">
                <a:latin typeface="Calibri Light"/>
              </a:defRPr>
            </a:pPr>
            <a:r>
              <a:rPr lang="en-US" sz="2200">
                <a:latin typeface="Calibri Light"/>
                <a:ea typeface="Calibri Light"/>
                <a:cs typeface="Calibri Light"/>
              </a:rPr>
              <a:t>“If X happens → do Y.</a:t>
            </a:r>
          </a:p>
          <a:p>
            <a:pPr lvl="1">
              <a:defRPr sz="2400" b="0">
                <a:latin typeface="Calibri Light"/>
              </a:defRPr>
            </a:pPr>
            <a:endParaRPr lang="en-US" sz="2200">
              <a:latin typeface="Calibri Light"/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Machine Learning</a:t>
            </a:r>
            <a:endParaRPr lang="en-US" sz="2400" b="0">
              <a:latin typeface="Calibri Light"/>
              <a:ea typeface="Calibri Light"/>
              <a:cs typeface="Calibri Light"/>
            </a:endParaRP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+mn-lt"/>
                <a:cs typeface="+mn-lt"/>
              </a:rPr>
              <a:t>Data + Output → Computer → Program (Model)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+mn-lt"/>
                <a:cs typeface="+mn-lt"/>
              </a:rPr>
              <a:t>Training the Model with Data 	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>
                <a:latin typeface="Calibri Light"/>
                <a:ea typeface="Calibri Light"/>
                <a:cs typeface="Calibri Light"/>
              </a:rPr>
              <a:t>“Here are thousands of examples →learn the pattern.”</a:t>
            </a:r>
          </a:p>
          <a:p>
            <a:pPr>
              <a:defRPr sz="2200" b="0">
                <a:latin typeface="Calibri Light"/>
              </a:defRPr>
            </a:pPr>
            <a:endParaRPr lang="en-US" sz="2600">
              <a:latin typeface="Calibri Light"/>
              <a:ea typeface="+mn-lt"/>
              <a:cs typeface="+mn-lt"/>
            </a:endParaRPr>
          </a:p>
          <a:p>
            <a:pPr marL="457200" lvl="1" indent="0">
              <a:buNone/>
              <a:defRPr sz="2200" b="0">
                <a:latin typeface="Calibri Light"/>
              </a:defRPr>
            </a:pPr>
            <a:endParaRPr lang="en-US" sz="2200" b="0">
              <a:latin typeface="Calibri Light"/>
              <a:ea typeface="+mn-lt"/>
              <a:cs typeface="+mn-lt"/>
            </a:endParaRPr>
          </a:p>
          <a:p>
            <a:pPr marL="457200" lvl="1" indent="0">
              <a:buNone/>
              <a:defRPr sz="2200" b="0">
                <a:latin typeface="Calibri Light"/>
              </a:defRPr>
            </a:pPr>
            <a:endParaRPr lang="en-US" sz="2200" b="0">
              <a:latin typeface="Calibri Light"/>
              <a:ea typeface="+mn-lt"/>
              <a:cs typeface="+mn-lt"/>
            </a:endParaRPr>
          </a:p>
          <a:p>
            <a:pPr marL="457200" lvl="1" indent="0">
              <a:buNone/>
              <a:defRPr sz="2400" b="0">
                <a:latin typeface="Calibri Light"/>
              </a:defRPr>
            </a:pPr>
            <a:endParaRPr lang="en-US" sz="2200">
              <a:latin typeface="Calibri Light"/>
              <a:ea typeface="+mn-lt"/>
              <a:cs typeface="+mn-lt"/>
            </a:endParaRP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AI is not new; it has been evolving since 1950s from foundations, to internet era, data era, deep learning and generative AI</a:t>
            </a:r>
            <a:endParaRPr lang="en-US"/>
          </a:p>
          <a:p>
            <a:pPr>
              <a:defRPr sz="2400" b="0">
                <a:latin typeface="Calibri Light"/>
              </a:defRPr>
            </a:pPr>
            <a:endParaRPr lang="en-US"/>
          </a:p>
          <a:p>
            <a:pPr>
              <a:defRPr sz="2400" b="0">
                <a:latin typeface="Calibri Light"/>
              </a:defRPr>
            </a:pPr>
            <a:endParaRPr lang="en-US"/>
          </a:p>
          <a:p>
            <a:pPr>
              <a:defRPr sz="2400" b="0">
                <a:latin typeface="Calibri Light"/>
              </a:defRPr>
            </a:pPr>
            <a:endParaRPr lang="en-US"/>
          </a:p>
        </p:txBody>
      </p:sp>
      <p:pic>
        <p:nvPicPr>
          <p:cNvPr id="4" name="Picture 3" descr="The slide includes an illustration of a robotic arm arranging colored blocks, representing a machine learning system learning from data rather than following fixed instructions.">
            <a:extLst>
              <a:ext uri="{FF2B5EF4-FFF2-40B4-BE49-F238E27FC236}">
                <a16:creationId xmlns:a16="http://schemas.microsoft.com/office/drawing/2014/main" id="{F954CED9-505B-CB86-2B7C-D4F9CFA37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851" y="5334082"/>
            <a:ext cx="2191199" cy="1371518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4676CF1-541A-9264-BD46-2180C732A6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2348007"/>
              </p:ext>
            </p:extLst>
          </p:nvPr>
        </p:nvGraphicFramePr>
        <p:xfrm>
          <a:off x="7235873" y="3062058"/>
          <a:ext cx="4329471" cy="2121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13635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A44D6-092B-CDC1-C4A6-F668E328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E7B55-6125-7A9E-3127-1DE068822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Machines can be taught in many 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5AF20-1683-B4F7-E208-6329D08EF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Like a child learning with a Teacher – </a:t>
            </a:r>
            <a:r>
              <a:rPr lang="en-US" sz="2400" b="1">
                <a:latin typeface="Calibri Light"/>
              </a:rPr>
              <a:t>Supervised Learning</a:t>
            </a:r>
            <a:endParaRPr lang="en-US" b="1"/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A teacher showing a child flashcards</a:t>
            </a:r>
            <a:r>
              <a:rPr lang="en-US" sz="2200">
                <a:latin typeface="Calibri Light"/>
              </a:rPr>
              <a:t>/ objects.</a:t>
            </a:r>
            <a:r>
              <a:rPr lang="en-US" sz="2200" b="0">
                <a:latin typeface="Calibri Light"/>
              </a:rPr>
              <a:t> “This is an Apple”, “This is a Banana”. Later, the child identifies them alone.</a:t>
            </a:r>
            <a:endParaRPr lang="en-US" sz="2200" b="0">
              <a:latin typeface="Calibri Light"/>
              <a:ea typeface="Calibri Light"/>
              <a:cs typeface="Calibri Light"/>
            </a:endParaRP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Learning with the help of trainer provided input and their labels. Once trained, AI can </a:t>
            </a:r>
            <a:r>
              <a:rPr lang="en-US" sz="2200" b="1">
                <a:latin typeface="Calibri Light"/>
              </a:rPr>
              <a:t>predict</a:t>
            </a:r>
            <a:r>
              <a:rPr lang="en-US" sz="2200" b="0">
                <a:latin typeface="Calibri Light"/>
              </a:rPr>
              <a:t>. 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Like a child learning on its own – </a:t>
            </a:r>
            <a:r>
              <a:rPr lang="en-US" sz="2400" b="1">
                <a:latin typeface="Calibri Light"/>
              </a:rPr>
              <a:t>Unsupervised Learning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Giving a child a set of buttons of various shapes, sizes and </a:t>
            </a:r>
            <a:r>
              <a:rPr lang="en-US" sz="2200" b="0" err="1">
                <a:latin typeface="Calibri Light"/>
              </a:rPr>
              <a:t>colours</a:t>
            </a:r>
            <a:r>
              <a:rPr lang="en-US" sz="2200" b="0">
                <a:latin typeface="Calibri Light"/>
              </a:rPr>
              <a:t> and ask them to sort on their own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Once the groups are created, meaning is added. Once trained, AI can </a:t>
            </a:r>
            <a:r>
              <a:rPr lang="en-US" sz="2200" b="1">
                <a:latin typeface="Calibri Light"/>
              </a:rPr>
              <a:t>classify</a:t>
            </a:r>
            <a:r>
              <a:rPr lang="en-US" sz="2200" b="0">
                <a:latin typeface="Calibri Light"/>
              </a:rPr>
              <a:t>.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Like training a dog to sit with treat/no treat – </a:t>
            </a:r>
            <a:r>
              <a:rPr lang="en-US" sz="2400" b="1">
                <a:latin typeface="Calibri Light"/>
              </a:rPr>
              <a:t>Reinforcement Learning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Learning by trial and error; Award for right answer and penalty for wrong answer 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Over many experiences, patterns are learnt. Once trained, AI </a:t>
            </a:r>
            <a:r>
              <a:rPr lang="en-US" sz="2200" b="1">
                <a:latin typeface="Calibri Light"/>
              </a:rPr>
              <a:t>can perform desirable actions</a:t>
            </a:r>
          </a:p>
        </p:txBody>
      </p:sp>
    </p:spTree>
    <p:extLst>
      <p:ext uri="{BB962C8B-B14F-4D97-AF65-F5344CB8AC3E}">
        <p14:creationId xmlns:p14="http://schemas.microsoft.com/office/powerpoint/2010/main" val="2734637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0F52-FE2B-E7DC-DE3E-B78555BE0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Machines can be taught in many ways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DC317-66B5-96DC-4148-7C4B1DA69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wrap="square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>
                <a:latin typeface="Calibri Light"/>
              </a:rPr>
              <a:t>Learning complicated patterns with many layers of analysis </a:t>
            </a:r>
            <a:r>
              <a:rPr lang="en-US" sz="2400" b="1">
                <a:latin typeface="Calibri Light"/>
              </a:rPr>
              <a:t>– Deep Learning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>
                <a:latin typeface="Calibri Light"/>
              </a:rPr>
              <a:t>Like human brain, inspect, store, identify, mix, match features of various types 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>
                <a:latin typeface="Calibri Light"/>
              </a:rPr>
              <a:t>Used for image recognition, natural language processing, computer vision etc. Once trained, </a:t>
            </a:r>
            <a:r>
              <a:rPr lang="en-US" sz="2200" b="1">
                <a:latin typeface="Calibri Light"/>
              </a:rPr>
              <a:t>AI can recognize.</a:t>
            </a:r>
          </a:p>
          <a:p>
            <a:pPr lvl="0">
              <a:defRPr sz="2400" b="0">
                <a:latin typeface="Calibri Light"/>
              </a:defRPr>
            </a:pPr>
            <a:r>
              <a:rPr lang="en-US" sz="2400">
                <a:latin typeface="Calibri Light"/>
              </a:rPr>
              <a:t>Creating new content based on what was learnt from the earlier data in response to a “prompt” from the user </a:t>
            </a:r>
            <a:r>
              <a:rPr lang="en-US" sz="2400" b="1">
                <a:latin typeface="Calibri Light"/>
              </a:rPr>
              <a:t>- Generative AI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>
                <a:latin typeface="Calibri Light"/>
              </a:rPr>
              <a:t>Content can be text, images, audio, video, and code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>
                <a:latin typeface="Calibri Light"/>
              </a:rPr>
              <a:t>Generation based on what has the highest probability to be valid and applicable in the context, within the limits of time and storage 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>
                <a:latin typeface="Calibri Light"/>
              </a:rPr>
              <a:t>Can be erroneous without any strict bounds for adhering to sources / limits on the creativity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>
                <a:latin typeface="Calibri Light"/>
              </a:rPr>
              <a:t>Once trained, </a:t>
            </a:r>
            <a:r>
              <a:rPr lang="en-US" sz="2200" b="1">
                <a:latin typeface="Calibri Light"/>
              </a:rPr>
              <a:t>AI can create.</a:t>
            </a:r>
          </a:p>
          <a:p>
            <a:pPr>
              <a:defRPr sz="2400" b="0">
                <a:latin typeface="Calibri Light"/>
              </a:defRPr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527895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B3238-5C43-8074-E98D-EE801B734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5642-3187-E96A-3849-E064C2B2C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Lets experience AI </a:t>
            </a:r>
          </a:p>
        </p:txBody>
      </p:sp>
    </p:spTree>
    <p:extLst>
      <p:ext uri="{BB962C8B-B14F-4D97-AF65-F5344CB8AC3E}">
        <p14:creationId xmlns:p14="http://schemas.microsoft.com/office/powerpoint/2010/main" val="3190727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14C20-BA7A-0A20-BC8C-17F36F53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Shall we use AI and experience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44F0-57D0-5A1B-0B41-3EB15A8CE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IN" sz="2400" b="0">
                <a:latin typeface="Calibri Light"/>
              </a:rPr>
              <a:t>Generating alternate text for VI students to understand pictures – Using Seeing AI 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Create interesting audio clips - Suno </a:t>
            </a:r>
            <a:r>
              <a:rPr lang="en-US" sz="2400" b="0">
                <a:latin typeface="Calibri Light"/>
                <a:hlinkClick r:id="rId3"/>
              </a:rPr>
              <a:t>https://suno.com/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Asking examples to make a hard concept easily understood 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“Generate some interesting and intuitive examples for a VI child in </a:t>
            </a:r>
            <a:r>
              <a:rPr lang="en-US" sz="2200" b="0" err="1">
                <a:latin typeface="Calibri Light"/>
              </a:rPr>
              <a:t>TamilNadu</a:t>
            </a:r>
            <a:r>
              <a:rPr lang="en-US" sz="2200" b="0">
                <a:latin typeface="Calibri Light"/>
              </a:rPr>
              <a:t> to understand about the concept of Momentum clearly”</a:t>
            </a:r>
          </a:p>
          <a:p>
            <a:pPr lvl="1">
              <a:defRPr sz="2200" b="0">
                <a:latin typeface="Calibri Light"/>
              </a:defRPr>
            </a:pPr>
            <a:endParaRPr lang="en-US" sz="2200">
              <a:latin typeface="Calibri Light"/>
            </a:endParaRPr>
          </a:p>
          <a:p>
            <a:pPr lvl="1">
              <a:defRPr sz="2200" b="0">
                <a:latin typeface="Calibri Light"/>
              </a:defRPr>
            </a:pPr>
            <a:endParaRPr lang="en-US" sz="2200">
              <a:latin typeface="Calibri Light"/>
            </a:endParaRPr>
          </a:p>
          <a:p>
            <a:pPr lvl="1">
              <a:defRPr sz="2200" b="0">
                <a:latin typeface="Calibri Light"/>
              </a:defRPr>
            </a:pPr>
            <a:endParaRPr lang="en-US" sz="2200">
              <a:latin typeface="Calibri Light"/>
            </a:endParaRPr>
          </a:p>
          <a:p>
            <a:pPr lvl="1">
              <a:defRPr sz="2200" b="0">
                <a:latin typeface="Calibri Light"/>
              </a:defRPr>
            </a:pPr>
            <a:endParaRPr lang="en-US" sz="2200">
              <a:latin typeface="Calibri Light"/>
            </a:endParaRPr>
          </a:p>
          <a:p>
            <a:pPr lvl="1">
              <a:defRPr sz="2200" b="0">
                <a:latin typeface="Calibri Light"/>
              </a:defRPr>
            </a:pPr>
            <a:endParaRPr lang="en-US" sz="2200">
              <a:latin typeface="Calibri Light"/>
            </a:endParaRPr>
          </a:p>
          <a:p>
            <a:pPr lvl="1">
              <a:defRPr sz="2200" b="0">
                <a:latin typeface="Calibri Light"/>
              </a:defRPr>
            </a:pPr>
            <a:endParaRPr lang="en-US" sz="2200">
              <a:latin typeface="Calibri Light"/>
            </a:endParaRPr>
          </a:p>
          <a:p>
            <a:pPr lvl="1">
              <a:defRPr sz="2200" b="0">
                <a:latin typeface="Calibri Light"/>
              </a:defRPr>
            </a:pPr>
            <a:endParaRPr lang="en-US" sz="2200">
              <a:latin typeface="Calibri Light"/>
            </a:endParaRPr>
          </a:p>
          <a:p>
            <a:pPr>
              <a:defRPr sz="2200" b="0">
                <a:latin typeface="Calibri Light"/>
              </a:defRPr>
            </a:pPr>
            <a:r>
              <a:rPr lang="en-US">
                <a:latin typeface="Calibri Light"/>
              </a:rPr>
              <a:t>Do you want to share how you use AI?</a:t>
            </a:r>
            <a:endParaRPr lang="en-US"/>
          </a:p>
          <a:p>
            <a:pPr lvl="1">
              <a:defRPr sz="2200" b="0">
                <a:latin typeface="Calibri Light"/>
              </a:defRP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70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65C39-1B84-E2BE-F20F-1DDF15D62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F9C53-0779-6A29-8486-C3381C9D2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– The Fuel of AI</a:t>
            </a:r>
          </a:p>
        </p:txBody>
      </p:sp>
    </p:spTree>
    <p:extLst>
      <p:ext uri="{BB962C8B-B14F-4D97-AF65-F5344CB8AC3E}">
        <p14:creationId xmlns:p14="http://schemas.microsoft.com/office/powerpoint/2010/main" val="3054449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9B47B-B4AE-72DE-AE60-EB086F5E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Data – The fuel of 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E9ECA-D637-9AD0-80AA-D67F8F889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Data is </a:t>
            </a:r>
            <a:r>
              <a:rPr lang="en-US" sz="2400" b="1">
                <a:latin typeface="Calibri Light"/>
              </a:rPr>
              <a:t>the fuel and source of intelligence </a:t>
            </a:r>
            <a:r>
              <a:rPr lang="en-US" sz="2400" b="0">
                <a:latin typeface="Calibri Light"/>
              </a:rPr>
              <a:t>for AI Models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Data means </a:t>
            </a:r>
            <a:r>
              <a:rPr lang="en-US" sz="2400" b="1">
                <a:latin typeface="Calibri Light"/>
                <a:ea typeface="+mn-lt"/>
                <a:cs typeface="+mn-lt"/>
              </a:rPr>
              <a:t>raw or processed inputs </a:t>
            </a:r>
            <a:r>
              <a:rPr lang="en-US" sz="2400" b="0">
                <a:latin typeface="Calibri Light"/>
                <a:ea typeface="+mn-lt"/>
                <a:cs typeface="+mn-lt"/>
              </a:rPr>
              <a:t>that can be further processed and </a:t>
            </a:r>
            <a:r>
              <a:rPr lang="en-US" sz="2400" b="0" err="1">
                <a:latin typeface="Calibri Light"/>
                <a:ea typeface="+mn-lt"/>
                <a:cs typeface="+mn-lt"/>
              </a:rPr>
              <a:t>analysed</a:t>
            </a:r>
            <a:r>
              <a:rPr lang="en-US" sz="2400" b="0">
                <a:latin typeface="Calibri Light"/>
                <a:ea typeface="+mn-lt"/>
                <a:cs typeface="+mn-lt"/>
              </a:rPr>
              <a:t> to get useful information which provides meaningful insights for decision-making.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Data collected over a period of time shows </a:t>
            </a:r>
            <a:r>
              <a:rPr lang="en-US" sz="2400" b="1">
                <a:latin typeface="Calibri Light"/>
                <a:ea typeface="+mn-lt"/>
                <a:cs typeface="+mn-lt"/>
              </a:rPr>
              <a:t>patterns </a:t>
            </a:r>
            <a:r>
              <a:rPr lang="en-US" sz="2400" b="0">
                <a:latin typeface="Calibri Light"/>
                <a:ea typeface="+mn-lt"/>
                <a:cs typeface="+mn-lt"/>
              </a:rPr>
              <a:t>– contributes to experience and knowledge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Can be used to take decisions and predict or forecast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Collection of data is called a </a:t>
            </a:r>
            <a:r>
              <a:rPr lang="en-US" sz="2400" b="1">
                <a:latin typeface="Calibri Light"/>
              </a:rPr>
              <a:t>“Dataset” 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Huge efforts to create comprehensive datasets are undertaken to make the AI systems better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>
                <a:latin typeface="Calibri Light"/>
              </a:rPr>
              <a:t>For example, </a:t>
            </a:r>
          </a:p>
          <a:p>
            <a:pPr lvl="2">
              <a:defRPr sz="2200" b="0">
                <a:latin typeface="Calibri Light"/>
              </a:defRPr>
            </a:pPr>
            <a:r>
              <a:rPr lang="en-US" sz="1800">
                <a:latin typeface="Calibri Light"/>
              </a:rPr>
              <a:t>Dataset of cough sounds mapped to whether COVID was found in a patient with such a cough</a:t>
            </a:r>
          </a:p>
          <a:p>
            <a:pPr lvl="2">
              <a:defRPr sz="2200" b="0">
                <a:latin typeface="Calibri Light"/>
              </a:defRPr>
            </a:pPr>
            <a:r>
              <a:rPr lang="en-US" sz="1800" b="0">
                <a:latin typeface="Calibri Light"/>
              </a:rPr>
              <a:t>Dataset of bird sounds to identify the birds</a:t>
            </a:r>
          </a:p>
          <a:p>
            <a:pPr lvl="2">
              <a:defRPr sz="2200" b="0">
                <a:latin typeface="Calibri Light"/>
              </a:defRPr>
            </a:pPr>
            <a:r>
              <a:rPr lang="en-US" sz="1800">
                <a:latin typeface="Calibri Light"/>
              </a:rPr>
              <a:t>Dataset of human faces for facial recognition</a:t>
            </a:r>
          </a:p>
          <a:p>
            <a:pPr lvl="2">
              <a:defRPr sz="2200" b="0">
                <a:latin typeface="Calibri Light"/>
              </a:defRPr>
            </a:pPr>
            <a:r>
              <a:rPr lang="en-US" sz="1800" b="0">
                <a:latin typeface="Calibri Light"/>
              </a:rPr>
              <a:t>Dataset of movies watched by users </a:t>
            </a:r>
          </a:p>
        </p:txBody>
      </p:sp>
    </p:spTree>
    <p:extLst>
      <p:ext uri="{BB962C8B-B14F-4D97-AF65-F5344CB8AC3E}">
        <p14:creationId xmlns:p14="http://schemas.microsoft.com/office/powerpoint/2010/main" val="1393792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023FB-15FC-FA1D-DE9B-D29778E82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How to make data-driven intelligence systems better?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D16B6-FBC4-DD7B-4C46-8AE029CE3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2200" b="0">
                <a:latin typeface="Calibri Light"/>
              </a:defRPr>
            </a:pPr>
            <a:r>
              <a:rPr lang="en-US" sz="2400">
                <a:latin typeface="Calibri Light"/>
              </a:rPr>
              <a:t>You might have faced the issue that speech recognition works well with English compared to other regional languages – Why is that the case?</a:t>
            </a:r>
            <a:endParaRPr lang="en-US" sz="2400">
              <a:latin typeface="Calibri Light"/>
              <a:ea typeface="Calibri Light"/>
              <a:cs typeface="Calibri Light"/>
            </a:endParaRPr>
          </a:p>
          <a:p>
            <a:pPr>
              <a:defRPr sz="2200" b="0">
                <a:latin typeface="Calibri Light"/>
              </a:defRPr>
            </a:pPr>
            <a:r>
              <a:rPr lang="en-US" sz="2400">
                <a:latin typeface="Calibri Light"/>
              </a:rPr>
              <a:t>Sometimes, the responses we get may not be relevant for our region/ culture – Why is  that the case?</a:t>
            </a:r>
            <a:endParaRPr lang="en-US" sz="2400">
              <a:latin typeface="Calibri Light"/>
              <a:ea typeface="Calibri Light"/>
              <a:cs typeface="Calibri Light"/>
            </a:endParaRPr>
          </a:p>
          <a:p>
            <a:pPr>
              <a:defRPr sz="2200" b="0">
                <a:latin typeface="Calibri Light"/>
              </a:defRPr>
            </a:pPr>
            <a:r>
              <a:rPr lang="en-US">
                <a:latin typeface="Calibri Light"/>
                <a:ea typeface="Calibri Light"/>
                <a:cs typeface="Calibri Light"/>
              </a:rPr>
              <a:t>Facial recognition software was not able to recognize facial images from all </a:t>
            </a:r>
            <a:r>
              <a:rPr lang="en-US" err="1">
                <a:latin typeface="Calibri Light"/>
                <a:ea typeface="Calibri Light"/>
                <a:cs typeface="Calibri Light"/>
              </a:rPr>
              <a:t>countries,ethnicities</a:t>
            </a:r>
            <a:r>
              <a:rPr lang="en-US">
                <a:latin typeface="Calibri Light"/>
                <a:ea typeface="Calibri Light"/>
                <a:cs typeface="Calibri Light"/>
              </a:rPr>
              <a:t> etc. Why did that happen?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Depends on the </a:t>
            </a:r>
            <a:r>
              <a:rPr lang="en-US" sz="2400" b="1">
                <a:latin typeface="Calibri Light"/>
                <a:ea typeface="+mn-lt"/>
                <a:cs typeface="+mn-lt"/>
              </a:rPr>
              <a:t>data </a:t>
            </a:r>
            <a:r>
              <a:rPr lang="en-US" sz="2400">
                <a:latin typeface="Calibri Light"/>
                <a:ea typeface="+mn-lt"/>
                <a:cs typeface="+mn-lt"/>
              </a:rPr>
              <a:t>used for building the models </a:t>
            </a:r>
          </a:p>
          <a:p>
            <a:pPr>
              <a:defRPr sz="2400" b="0">
                <a:latin typeface="Calibri Light"/>
              </a:defRPr>
            </a:pPr>
            <a:endParaRPr lang="en-US" sz="2400" b="0">
              <a:latin typeface="Calibri Light"/>
              <a:ea typeface="+mn-lt"/>
              <a:cs typeface="+mn-lt"/>
            </a:endParaRP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Do humans use data?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Yes, just like </a:t>
            </a:r>
            <a:r>
              <a:rPr lang="en-US" sz="2200">
                <a:latin typeface="Calibri Light"/>
              </a:rPr>
              <a:t>AI, we</a:t>
            </a:r>
            <a:r>
              <a:rPr lang="en-US" sz="2200" b="0">
                <a:latin typeface="Calibri Light"/>
              </a:rPr>
              <a:t> need </a:t>
            </a:r>
            <a:r>
              <a:rPr lang="en-US" sz="2200" b="1">
                <a:latin typeface="Calibri Light"/>
              </a:rPr>
              <a:t>good data </a:t>
            </a:r>
            <a:r>
              <a:rPr lang="en-US" sz="2200" b="0">
                <a:latin typeface="Calibri Light"/>
              </a:rPr>
              <a:t>to take proper decisions</a:t>
            </a:r>
            <a:r>
              <a:rPr lang="en-US" sz="2200">
                <a:latin typeface="Calibri Light"/>
              </a:rPr>
              <a:t> as well</a:t>
            </a:r>
            <a:endParaRPr lang="en-US" sz="2200" b="0">
              <a:latin typeface="Calibri Light"/>
              <a:ea typeface="Calibri Light"/>
              <a:cs typeface="Calibri Light"/>
            </a:endParaRP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However, </a:t>
            </a:r>
            <a:r>
              <a:rPr lang="en-US" sz="2200" b="1">
                <a:latin typeface="Calibri Light"/>
              </a:rPr>
              <a:t>we do not use data alone</a:t>
            </a:r>
            <a:r>
              <a:rPr lang="en-US" sz="2200" b="0">
                <a:latin typeface="Calibri Light"/>
              </a:rPr>
              <a:t>. We </a:t>
            </a:r>
            <a:r>
              <a:rPr lang="en-US" sz="2200" b="1">
                <a:latin typeface="Calibri Light"/>
              </a:rPr>
              <a:t>also use our intelligence, conscience and intuition</a:t>
            </a:r>
            <a:r>
              <a:rPr lang="en-US" sz="2200" b="0">
                <a:latin typeface="Calibri Light"/>
              </a:rPr>
              <a:t>.</a:t>
            </a:r>
            <a:endParaRPr lang="en-US" sz="2200" b="0">
              <a:latin typeface="Calibri Light"/>
              <a:ea typeface="Calibri Light"/>
              <a:cs typeface="Calibri Light"/>
            </a:endParaRP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In the absence of these in a machine, </a:t>
            </a:r>
            <a:r>
              <a:rPr lang="en-US" sz="2200" b="1">
                <a:latin typeface="Calibri Light"/>
              </a:rPr>
              <a:t>only data contributes majorly to artificial intelligence </a:t>
            </a:r>
            <a:r>
              <a:rPr lang="en-US" sz="2200" b="0">
                <a:latin typeface="Calibri Light"/>
              </a:rPr>
              <a:t>and that can lead to mistakes and errors</a:t>
            </a:r>
            <a:endParaRPr lang="en-US" sz="2200" b="0">
              <a:latin typeface="Calibri Light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70304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DDF00-7F14-927D-BF24-62F3FC4BA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F739-D0E0-4B39-8728-5A7577AC3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>
              <a:defRPr sz="3600" b="1">
                <a:latin typeface="Calibri Light"/>
              </a:defRPr>
            </a:pPr>
            <a:r>
              <a:rPr lang="en-US"/>
              <a:t>Good Data and Design – Needed for AI</a:t>
            </a:r>
            <a:endParaRPr lang="en-US" sz="3600" b="1">
              <a:latin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DE160-8AC7-4AEB-2ADE-A092C0896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>
                <a:latin typeface="Calibri Light"/>
              </a:rPr>
              <a:t>How to minimize these errors from data-driven intelligence? </a:t>
            </a:r>
            <a:r>
              <a:rPr lang="en-US" sz="2200">
                <a:latin typeface="Calibri Light"/>
              </a:rPr>
              <a:t>The data used for training should be </a:t>
            </a:r>
            <a:endParaRPr lang="en-US"/>
          </a:p>
          <a:p>
            <a:pPr lvl="2">
              <a:defRPr sz="2200" b="0">
                <a:latin typeface="Calibri Light"/>
              </a:defRPr>
            </a:pPr>
            <a:r>
              <a:rPr lang="en-US" sz="2400">
                <a:latin typeface="Calibri Light"/>
              </a:rPr>
              <a:t>Very large to include as many variations as possible</a:t>
            </a:r>
            <a:endParaRPr lang="en-US" sz="2400">
              <a:latin typeface="Calibri Light"/>
              <a:ea typeface="Calibri Light"/>
              <a:cs typeface="Calibri Light"/>
            </a:endParaRPr>
          </a:p>
          <a:p>
            <a:pPr lvl="2">
              <a:defRPr sz="2200" b="0">
                <a:latin typeface="Calibri Light"/>
              </a:defRPr>
            </a:pPr>
            <a:r>
              <a:rPr lang="en-US" sz="2400">
                <a:latin typeface="Calibri Light"/>
              </a:rPr>
              <a:t>Representative to not include bias for any particular set</a:t>
            </a:r>
            <a:endParaRPr lang="en-US" sz="2400">
              <a:ea typeface="Calibri Light"/>
              <a:cs typeface="Calibri Light"/>
            </a:endParaRPr>
          </a:p>
          <a:p>
            <a:pPr lvl="2">
              <a:defRPr sz="2200" b="0">
                <a:latin typeface="Calibri Light"/>
              </a:defRPr>
            </a:pPr>
            <a:r>
              <a:rPr lang="en-US" sz="2400">
                <a:latin typeface="Calibri Light"/>
              </a:rPr>
              <a:t>Good quality for the machine to be able to accurately understand all features</a:t>
            </a:r>
            <a:endParaRPr lang="en-US" sz="2400">
              <a:latin typeface="Calibri Light"/>
              <a:ea typeface="Calibri Light"/>
              <a:cs typeface="Calibri Light"/>
            </a:endParaRPr>
          </a:p>
          <a:p>
            <a:pPr>
              <a:defRPr sz="2000" b="0">
                <a:latin typeface="Calibri Light"/>
              </a:defRPr>
            </a:pPr>
            <a:r>
              <a:rPr lang="en-US" sz="2400">
                <a:latin typeface="Calibri Light"/>
              </a:rPr>
              <a:t>If the quality of data is bad, then the decisions taken by the AI model will also be inaccurate </a:t>
            </a:r>
          </a:p>
          <a:p>
            <a:pPr>
              <a:defRPr sz="2000" b="0">
                <a:latin typeface="Calibri Light"/>
              </a:defRPr>
            </a:pPr>
            <a:r>
              <a:rPr lang="en-US" sz="2400">
                <a:latin typeface="Calibri Light"/>
              </a:rPr>
              <a:t>Any bias in data translates into inaccuracies, bias, inequalities, incorrect predictions etc.</a:t>
            </a:r>
            <a:endParaRPr lang="en-US" sz="2400">
              <a:latin typeface="Calibri Light"/>
              <a:ea typeface="Calibri Light"/>
              <a:cs typeface="Calibri Ligh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22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24BBC-FFAB-4D1A-F757-B5EFD3602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3E3F-2F86-6A8C-D988-3F130285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Towards Responsible, Informed and Conscious use of AI</a:t>
            </a:r>
          </a:p>
        </p:txBody>
      </p:sp>
    </p:spTree>
    <p:extLst>
      <p:ext uri="{BB962C8B-B14F-4D97-AF65-F5344CB8AC3E}">
        <p14:creationId xmlns:p14="http://schemas.microsoft.com/office/powerpoint/2010/main" val="1552315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A911D-D60A-8A95-F7C1-B611E479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96012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AI is important and useful. Why should we be concerned 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756A49-C451-08F1-3CCF-615C05B029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5880" y="4304747"/>
            <a:ext cx="4881763" cy="7798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C40981-84EA-DDC1-D816-1596EF6D1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456" y="5439000"/>
            <a:ext cx="4724400" cy="10428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142DBA-E800-54A8-C02E-F35682943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77" y="5439000"/>
            <a:ext cx="5769069" cy="9737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BFABA28-4971-6365-3DAE-9750836B0A7A}"/>
                  </a:ext>
                </a:extLst>
              </p14:cNvPr>
              <p14:cNvContentPartPr/>
              <p14:nvPr/>
            </p14:nvContentPartPr>
            <p14:xfrm>
              <a:off x="3713289" y="4582594"/>
              <a:ext cx="4354674" cy="34571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BFABA28-4971-6365-3DAE-9750836B0A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95290" y="4564774"/>
                <a:ext cx="4390312" cy="698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3A5C198-231F-7884-245F-AAC05F21A85B}"/>
                  </a:ext>
                </a:extLst>
              </p14:cNvPr>
              <p14:cNvContentPartPr/>
              <p14:nvPr/>
            </p14:nvContentPartPr>
            <p14:xfrm>
              <a:off x="6096000" y="6608513"/>
              <a:ext cx="5072856" cy="128951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3A5C198-231F-7884-245F-AAC05F21A85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78001" y="6590603"/>
                <a:ext cx="5108494" cy="1644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7A49142-F5DB-113E-5864-ED1D68EE3BBA}"/>
                  </a:ext>
                </a:extLst>
              </p14:cNvPr>
              <p14:cNvContentPartPr/>
              <p14:nvPr/>
            </p14:nvContentPartPr>
            <p14:xfrm>
              <a:off x="1717833" y="6492875"/>
              <a:ext cx="3168503" cy="24804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7A49142-F5DB-113E-5864-ED1D68EE3BB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99834" y="6469908"/>
                <a:ext cx="3204141" cy="702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DF5CB4C-BD7E-3A64-7253-BFDD0EA5CB2B}"/>
                  </a:ext>
                </a:extLst>
              </p14:cNvPr>
              <p14:cNvContentPartPr/>
              <p14:nvPr/>
            </p14:nvContentPartPr>
            <p14:xfrm>
              <a:off x="6004719" y="7523756"/>
              <a:ext cx="24804" cy="24804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DF5CB4C-BD7E-3A64-7253-BFDD0EA5CB2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64519" y="6283556"/>
                <a:ext cx="2480400" cy="24804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309B991-AD23-3D82-9EDA-D69DD1989EE5}"/>
              </a:ext>
            </a:extLst>
          </p:cNvPr>
          <p:cNvSpPr txBox="1"/>
          <p:nvPr/>
        </p:nvSpPr>
        <p:spPr>
          <a:xfrm>
            <a:off x="825976" y="1173510"/>
            <a:ext cx="10342880" cy="2862322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Why do all GenAI platforms say that they can make mistakes?</a:t>
            </a:r>
          </a:p>
          <a:p>
            <a:pPr marL="285750" indent="-285750">
              <a:buFont typeface="Arial" panose="020B0604020202020204" pitchFamily="34" charset="0"/>
              <a:buChar char="•"/>
              <a:defRPr sz="2400" b="0">
                <a:latin typeface="Calibri Light"/>
              </a:defRPr>
            </a:pPr>
            <a:r>
              <a:rPr lang="en-US" sz="2400" b="0">
                <a:solidFill>
                  <a:srgbClr val="000000"/>
                </a:solidFill>
                <a:highlight>
                  <a:srgbClr val="FCFCFC"/>
                </a:highlight>
                <a:latin typeface="Calibri Light"/>
                <a:ea typeface="+mn-lt"/>
                <a:cs typeface="+mn-lt"/>
              </a:rPr>
              <a:t>Was this warning included in a calculator? Why not?</a:t>
            </a:r>
          </a:p>
          <a:p>
            <a:pPr marL="285750" indent="-285750">
              <a:buFont typeface="Arial" panose="020B0604020202020204" pitchFamily="34" charset="0"/>
              <a:buChar char="•"/>
              <a:defRPr sz="2400" b="0">
                <a:latin typeface="Calibri Light"/>
              </a:defRPr>
            </a:pPr>
            <a:r>
              <a:rPr lang="en-US" sz="2400" b="0">
                <a:highlight>
                  <a:srgbClr val="FCFCFC"/>
                </a:highlight>
                <a:latin typeface="Calibri Light"/>
              </a:rPr>
              <a:t>Have you experienced incorrect responses from any AI tool?</a:t>
            </a:r>
          </a:p>
          <a:p>
            <a:pPr marL="285750" indent="-285750">
              <a:buFont typeface="Arial" panose="020B0604020202020204" pitchFamily="34" charset="0"/>
              <a:buChar char="•"/>
              <a:defRPr sz="2400" b="0">
                <a:latin typeface="Calibri Light"/>
              </a:defRPr>
            </a:pPr>
            <a:r>
              <a:rPr lang="en-US" sz="2400" b="0">
                <a:highlight>
                  <a:srgbClr val="FCFCFC"/>
                </a:highlight>
                <a:latin typeface="Calibri Light"/>
              </a:rPr>
              <a:t>Have you seen that it has generated wrong content and says “Sorry”, “you are right” etc.</a:t>
            </a:r>
          </a:p>
          <a:p>
            <a:pPr marL="285750" indent="-285750">
              <a:buFont typeface="Arial" panose="020B0604020202020204" pitchFamily="34" charset="0"/>
              <a:buChar char="•"/>
              <a:defRPr sz="2400" b="0">
                <a:latin typeface="Calibri Light"/>
              </a:defRPr>
            </a:pPr>
            <a:r>
              <a:rPr lang="en-US" sz="2400" b="0">
                <a:highlight>
                  <a:srgbClr val="FCFCFC"/>
                </a:highlight>
                <a:latin typeface="Calibri Light"/>
              </a:rPr>
              <a:t>Have you heard about excessive AI dependence resulting in extremes like illnesses and fatalities</a:t>
            </a:r>
          </a:p>
          <a:p>
            <a:pPr marL="285750" indent="-285750">
              <a:buFont typeface="Arial" panose="020B0604020202020204" pitchFamily="34" charset="0"/>
              <a:buChar char="•"/>
              <a:defRPr sz="2400" b="0">
                <a:latin typeface="Calibri Light"/>
              </a:defRPr>
            </a:pPr>
            <a:endParaRPr lang="en-US" sz="2400" b="0">
              <a:highlight>
                <a:srgbClr val="FCFCFC"/>
              </a:highlight>
              <a:latin typeface="Calibri Light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2400" b="0">
                <a:latin typeface="Calibri Light"/>
              </a:defRPr>
            </a:pPr>
            <a:r>
              <a:rPr lang="en-US" sz="2400">
                <a:highlight>
                  <a:srgbClr val="FCFCFC"/>
                </a:highlight>
                <a:latin typeface="Calibri Light"/>
              </a:rPr>
              <a:t>Why do you think this is happening?</a:t>
            </a:r>
            <a:endParaRPr lang="en-US" sz="2400" b="0">
              <a:highlight>
                <a:srgbClr val="FCFCFC"/>
              </a:highlight>
              <a:latin typeface="Calibri Light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2400" b="0">
                <a:latin typeface="Calibri Light"/>
              </a:defRPr>
            </a:pPr>
            <a:r>
              <a:rPr lang="en-US" sz="2400" b="0">
                <a:highlight>
                  <a:srgbClr val="FCFCFC"/>
                </a:highlight>
                <a:latin typeface="Calibri Light"/>
              </a:rPr>
              <a:t>What does all this mean to the users? Can you trust the AI output completely?</a:t>
            </a:r>
          </a:p>
          <a:p>
            <a:pPr marL="285750" indent="-285750">
              <a:buFont typeface="Arial" panose="020B0604020202020204" pitchFamily="34" charset="0"/>
              <a:buChar char="•"/>
              <a:defRPr sz="2400" b="0">
                <a:latin typeface="Calibri Light"/>
              </a:defRPr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14990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3BEB-673E-069E-03F7-CAF2047E6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Prompt : “Draw the structure of the carbon atom”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60275CF-FF82-FD60-3A52-7339DEA2DE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3028" y="1549854"/>
            <a:ext cx="3607200" cy="29869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471C29-9C35-9CB5-796D-A0ED5A25D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858" y="2304143"/>
            <a:ext cx="5153025" cy="44631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A38CC7-B750-C0F3-AF8B-F1129EAFE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4781" y="1713820"/>
            <a:ext cx="3696154" cy="304573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633847A-6E56-3D74-8012-DFCCDC4F3EEB}"/>
              </a:ext>
            </a:extLst>
          </p:cNvPr>
          <p:cNvSpPr/>
          <p:nvPr/>
        </p:nvSpPr>
        <p:spPr>
          <a:xfrm>
            <a:off x="10454640" y="2804160"/>
            <a:ext cx="1452880" cy="3962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>
              <a:defRPr sz="2400" b="0">
                <a:latin typeface="Calibri Light"/>
              </a:defRPr>
            </a:pPr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5EEC032-4D34-492B-AC07-69F585AA02F1}"/>
              </a:ext>
            </a:extLst>
          </p:cNvPr>
          <p:cNvSpPr/>
          <p:nvPr/>
        </p:nvSpPr>
        <p:spPr>
          <a:xfrm>
            <a:off x="3545840" y="6045200"/>
            <a:ext cx="2194560" cy="3962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62500" lnSpcReduction="20000"/>
          </a:bodyPr>
          <a:lstStyle/>
          <a:p>
            <a:pPr algn="ctr">
              <a:defRPr sz="2400" b="0">
                <a:latin typeface="Calibri Light"/>
              </a:defRP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10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84E84-3A9E-5DDF-1EF3-54D3C892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Understanding GenAI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91FD3-005F-4E25-3189-B9DDB5C4F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457200" indent="-457200">
              <a:defRPr sz="2400" b="0">
                <a:latin typeface="Calibri Light"/>
              </a:defRPr>
            </a:pPr>
            <a:r>
              <a:rPr lang="en-US" sz="2400" b="0">
                <a:highlight>
                  <a:srgbClr val="FCFCFC"/>
                </a:highlight>
                <a:latin typeface="Calibri Light"/>
              </a:rPr>
              <a:t>Responses depend on the </a:t>
            </a:r>
            <a:r>
              <a:rPr lang="en-US" sz="2400" b="1">
                <a:highlight>
                  <a:srgbClr val="FCFCFC"/>
                </a:highlight>
                <a:latin typeface="Calibri Light"/>
              </a:rPr>
              <a:t>quality of data used for training and the design of the system</a:t>
            </a:r>
            <a:endParaRPr lang="en-US" sz="2400" b="0">
              <a:highlight>
                <a:srgbClr val="FCFCFC"/>
              </a:highlight>
              <a:latin typeface="Calibri Light"/>
              <a:ea typeface="Calibri Light"/>
              <a:cs typeface="Calibri Light"/>
            </a:endParaRPr>
          </a:p>
          <a:p>
            <a:pPr marL="457200" indent="-457200">
              <a:defRPr sz="2400" b="0">
                <a:latin typeface="Calibri Light"/>
              </a:defRPr>
            </a:pPr>
            <a:r>
              <a:rPr lang="en-US" sz="2400" b="1">
                <a:highlight>
                  <a:srgbClr val="FCFCFC"/>
                </a:highlight>
                <a:latin typeface="Calibri Light"/>
              </a:rPr>
              <a:t>Inherent design </a:t>
            </a:r>
            <a:r>
              <a:rPr lang="en-US" sz="2400" b="0">
                <a:highlight>
                  <a:srgbClr val="FCFCFC"/>
                </a:highlight>
                <a:latin typeface="Calibri Light"/>
              </a:rPr>
              <a:t>of the AI models can add to inaccuracies and hallucination</a:t>
            </a:r>
            <a:endParaRPr lang="en-US" sz="2400" b="0">
              <a:highlight>
                <a:srgbClr val="FCFCFC"/>
              </a:highlight>
              <a:latin typeface="Calibri Light"/>
              <a:ea typeface="Calibri Light"/>
              <a:cs typeface="Calibri Light"/>
            </a:endParaRPr>
          </a:p>
          <a:p>
            <a:pPr marL="457200" indent="-457200">
              <a:defRPr sz="2400" b="0">
                <a:latin typeface="Calibri Light"/>
              </a:defRPr>
            </a:pPr>
            <a:r>
              <a:rPr lang="en-US" sz="2400" b="0">
                <a:highlight>
                  <a:srgbClr val="FCFCFC"/>
                </a:highlight>
                <a:latin typeface="Calibri Light"/>
              </a:rPr>
              <a:t>Generation with AI is </a:t>
            </a:r>
            <a:r>
              <a:rPr lang="en-US" sz="2400" b="1">
                <a:highlight>
                  <a:srgbClr val="FCFCFC"/>
                </a:highlight>
                <a:latin typeface="Calibri Light"/>
              </a:rPr>
              <a:t>not always backed with actual facts</a:t>
            </a:r>
            <a:r>
              <a:rPr lang="en-US" sz="2400" b="0">
                <a:highlight>
                  <a:srgbClr val="FCFCFC"/>
                </a:highlight>
                <a:latin typeface="Calibri Light"/>
              </a:rPr>
              <a:t>. User needs to instruct and bound the creation with context and expectations of accuracy</a:t>
            </a:r>
            <a:endParaRPr lang="en-US" sz="2400" b="0">
              <a:highlight>
                <a:srgbClr val="FCFCFC"/>
              </a:highlight>
              <a:latin typeface="Calibri Light"/>
              <a:ea typeface="Calibri Light"/>
              <a:cs typeface="Calibri Light"/>
            </a:endParaRPr>
          </a:p>
          <a:p>
            <a:pPr marL="457200" indent="-457200">
              <a:defRPr sz="2400" b="0">
                <a:latin typeface="Calibri Light"/>
              </a:defRPr>
            </a:pPr>
            <a:r>
              <a:rPr lang="en-US" sz="2400" b="0">
                <a:highlight>
                  <a:srgbClr val="FCFCFC"/>
                </a:highlight>
                <a:latin typeface="Calibri Light"/>
              </a:rPr>
              <a:t>How the machine learns is not completely explainable</a:t>
            </a:r>
            <a:endParaRPr lang="en-US" sz="2400" b="0">
              <a:highlight>
                <a:srgbClr val="FCFCFC"/>
              </a:highlight>
              <a:latin typeface="Calibri Light"/>
              <a:ea typeface="Calibri Light"/>
              <a:cs typeface="Calibri Light"/>
            </a:endParaRPr>
          </a:p>
          <a:p>
            <a:pPr marL="457200" indent="-457200">
              <a:defRPr sz="2400" b="0">
                <a:latin typeface="Calibri Light"/>
              </a:defRPr>
            </a:pPr>
            <a:r>
              <a:rPr lang="en-US" sz="2400">
                <a:highlight>
                  <a:srgbClr val="FCFCFC"/>
                </a:highlight>
                <a:latin typeface="Calibri Light"/>
              </a:rPr>
              <a:t>Responsibility </a:t>
            </a:r>
            <a:r>
              <a:rPr lang="en-US" sz="2400" b="0">
                <a:highlight>
                  <a:srgbClr val="FCFCFC"/>
                </a:highlight>
                <a:latin typeface="Calibri Light"/>
              </a:rPr>
              <a:t>of </a:t>
            </a:r>
            <a:r>
              <a:rPr lang="en-US" sz="2400" b="1">
                <a:highlight>
                  <a:srgbClr val="FCFCFC"/>
                </a:highlight>
                <a:latin typeface="Calibri Light"/>
              </a:rPr>
              <a:t>writing a good “prompt” </a:t>
            </a:r>
            <a:r>
              <a:rPr lang="en-US" sz="2400" b="0">
                <a:highlight>
                  <a:srgbClr val="FCFCFC"/>
                </a:highlight>
                <a:latin typeface="Calibri Light"/>
              </a:rPr>
              <a:t>is with the user, better prompt may lead to better results </a:t>
            </a:r>
            <a:endParaRPr lang="en-US" sz="2400" b="0">
              <a:highlight>
                <a:srgbClr val="FCFCFC"/>
              </a:highlight>
              <a:latin typeface="Calibri Light"/>
              <a:ea typeface="Calibri Light"/>
              <a:cs typeface="Calibri Light"/>
            </a:endParaRPr>
          </a:p>
          <a:p>
            <a:pPr marL="457200" indent="-457200">
              <a:defRPr sz="2400" b="0">
                <a:latin typeface="Calibri Light"/>
              </a:defRPr>
            </a:pPr>
            <a:r>
              <a:rPr lang="en-US" sz="2400" b="0">
                <a:highlight>
                  <a:srgbClr val="FCFCFC"/>
                </a:highlight>
                <a:latin typeface="Calibri Light"/>
              </a:rPr>
              <a:t>Users need to be able to </a:t>
            </a:r>
            <a:r>
              <a:rPr lang="en-US" sz="2400" b="1">
                <a:highlight>
                  <a:srgbClr val="FCFCFC"/>
                </a:highlight>
                <a:latin typeface="Calibri Light"/>
              </a:rPr>
              <a:t>assert the accuracy </a:t>
            </a:r>
            <a:r>
              <a:rPr lang="en-US" sz="2400" b="0">
                <a:highlight>
                  <a:srgbClr val="FCFCFC"/>
                </a:highlight>
                <a:latin typeface="Calibri Light"/>
              </a:rPr>
              <a:t>of the content “created”</a:t>
            </a:r>
            <a:endParaRPr lang="en-US" sz="2400" b="0">
              <a:highlight>
                <a:srgbClr val="FCFCFC"/>
              </a:highlight>
              <a:latin typeface="Calibri Light"/>
              <a:ea typeface="Calibri Light"/>
              <a:cs typeface="Calibri Light"/>
            </a:endParaRPr>
          </a:p>
          <a:p>
            <a:pPr marL="457200" indent="-457200">
              <a:defRPr sz="2400" b="0">
                <a:latin typeface="Calibri Light"/>
              </a:defRPr>
            </a:pPr>
            <a:r>
              <a:rPr lang="en-US" sz="2400">
                <a:highlight>
                  <a:srgbClr val="FCFCFC"/>
                </a:highlight>
                <a:latin typeface="Calibri Light"/>
              </a:rPr>
              <a:t>Most Gen-AI solutions are from private corporations and the free plans may not be high performing in terms of quality</a:t>
            </a:r>
            <a:endParaRPr lang="en-US" sz="2400" b="0">
              <a:highlight>
                <a:srgbClr val="FCFCFC"/>
              </a:highlight>
              <a:latin typeface="Calibri Light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6766586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047F-4538-00CD-12FD-BD805F10C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How do we use AI if it has pros and cons?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146AD-95F2-85F1-1CA7-2F9FAB670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 b="1" dirty="0">
                <a:latin typeface="Calibri Light"/>
                <a:ea typeface="+mn-lt"/>
                <a:cs typeface="+mn-lt"/>
              </a:rPr>
              <a:t>Humans are accountable </a:t>
            </a:r>
            <a:r>
              <a:rPr lang="en-US" sz="2400" b="0" dirty="0">
                <a:latin typeface="Calibri Light"/>
                <a:ea typeface="+mn-lt"/>
                <a:cs typeface="+mn-lt"/>
              </a:rPr>
              <a:t>for what we use AI for and how we use its outputs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 dirty="0">
                <a:latin typeface="Calibri Light"/>
                <a:ea typeface="+mn-lt"/>
                <a:cs typeface="+mn-lt"/>
              </a:rPr>
              <a:t>We cannot penalize AI for its mistakes, inaccuracies and errors 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1" dirty="0">
                <a:latin typeface="Calibri Light"/>
              </a:rPr>
              <a:t>Responsible, Informed and Conscious (RIC) Use </a:t>
            </a:r>
            <a:r>
              <a:rPr lang="en-US" sz="2400" b="0" dirty="0">
                <a:latin typeface="Calibri Light"/>
              </a:rPr>
              <a:t>of AI needs to be practiced</a:t>
            </a:r>
            <a:endParaRPr lang="en-US" sz="2400" b="0" dirty="0">
              <a:latin typeface="Calibri Light"/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 sz="2400" b="1" dirty="0">
                <a:latin typeface="Calibri Light"/>
              </a:rPr>
              <a:t>Responsible </a:t>
            </a:r>
            <a:r>
              <a:rPr lang="en-US" sz="2400" b="0" dirty="0">
                <a:latin typeface="Calibri Light"/>
              </a:rPr>
              <a:t>:</a:t>
            </a:r>
            <a:endParaRPr lang="en-US" sz="2400" b="0" dirty="0">
              <a:latin typeface="Calibri Light"/>
              <a:ea typeface="Calibri Light"/>
              <a:cs typeface="Calibri Light"/>
            </a:endParaRPr>
          </a:p>
          <a:p>
            <a:pPr lvl="1">
              <a:defRPr sz="2200" b="0">
                <a:latin typeface="Calibri Light"/>
              </a:defRPr>
            </a:pPr>
            <a:r>
              <a:rPr lang="en-US" sz="2200" b="0" dirty="0">
                <a:latin typeface="Calibri Light"/>
              </a:rPr>
              <a:t>Use AI in a manner that does not result in harm for yourself or others</a:t>
            </a:r>
            <a:endParaRPr lang="en-US" sz="2200" b="0" dirty="0">
              <a:latin typeface="Calibri Light"/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 sz="2400" b="1" dirty="0">
                <a:latin typeface="Calibri Light"/>
              </a:rPr>
              <a:t>Informed :</a:t>
            </a:r>
            <a:endParaRPr lang="en-US" sz="2400" b="1" dirty="0">
              <a:latin typeface="Calibri Light"/>
              <a:ea typeface="Calibri Light"/>
              <a:cs typeface="Calibri Light"/>
            </a:endParaRPr>
          </a:p>
          <a:p>
            <a:pPr lvl="1">
              <a:defRPr sz="2200" b="0">
                <a:latin typeface="Calibri Light"/>
              </a:defRPr>
            </a:pPr>
            <a:r>
              <a:rPr lang="en-US" sz="2200" b="0" dirty="0">
                <a:latin typeface="Calibri Light"/>
              </a:rPr>
              <a:t>Know that AI can make mistakes, can have bias, can make mistakes, does not have emotions</a:t>
            </a:r>
            <a:endParaRPr lang="en-US" sz="2200" b="0" dirty="0">
              <a:latin typeface="Calibri Light"/>
              <a:ea typeface="Calibri Light"/>
              <a:cs typeface="Calibri Light"/>
            </a:endParaRPr>
          </a:p>
          <a:p>
            <a:pPr lvl="1">
              <a:defRPr sz="2200" b="0">
                <a:latin typeface="Calibri Light"/>
              </a:defRPr>
            </a:pPr>
            <a:r>
              <a:rPr lang="en-US" sz="2200" b="0" dirty="0">
                <a:latin typeface="Calibri Light"/>
              </a:rPr>
              <a:t>Know that AI can generate content without it being reality (hallucination)</a:t>
            </a:r>
            <a:endParaRPr lang="en-US" sz="2200" b="0" dirty="0">
              <a:latin typeface="Calibri Light"/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 sz="2400" b="1" dirty="0">
                <a:latin typeface="Calibri Light"/>
              </a:rPr>
              <a:t>Conscious :</a:t>
            </a:r>
            <a:endParaRPr lang="en-US" sz="2400" b="1" dirty="0">
              <a:latin typeface="Calibri Light"/>
              <a:ea typeface="Calibri Light"/>
              <a:cs typeface="Calibri Light"/>
            </a:endParaRPr>
          </a:p>
          <a:p>
            <a:pPr lvl="1">
              <a:defRPr sz="2200" b="0">
                <a:latin typeface="Calibri Light"/>
              </a:defRPr>
            </a:pPr>
            <a:r>
              <a:rPr lang="en-US" sz="2200" b="0" dirty="0">
                <a:latin typeface="Calibri Light"/>
              </a:rPr>
              <a:t>Use AI with full understanding of the accountability for actions based on the information or suggestions that are got from the AI solutions</a:t>
            </a:r>
            <a:endParaRPr lang="en-US" sz="2200" b="0" dirty="0">
              <a:latin typeface="Calibri Light"/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 sz="2400" b="1" dirty="0">
                <a:latin typeface="Calibri Light"/>
              </a:rPr>
              <a:t>An </a:t>
            </a:r>
            <a:r>
              <a:rPr lang="en-US" sz="2400" b="1" dirty="0">
                <a:solidFill>
                  <a:schemeClr val="accent1"/>
                </a:solidFill>
                <a:latin typeface="Calibri Light"/>
              </a:rPr>
              <a:t>Responsible, Informed and Conscious </a:t>
            </a:r>
            <a:r>
              <a:rPr lang="en-US" sz="2400" b="1" dirty="0">
                <a:latin typeface="Calibri Light"/>
              </a:rPr>
              <a:t>human in the loop is the best way to use AI</a:t>
            </a:r>
            <a:endParaRPr lang="en-US" sz="2400" b="1" dirty="0">
              <a:latin typeface="Calibri Light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317847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EC629-3E1C-C99C-853F-C7E549008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In Education</a:t>
            </a:r>
            <a:br>
              <a:rPr lang="en-US" dirty="0"/>
            </a:br>
            <a:r>
              <a:rPr lang="en-US" dirty="0"/>
              <a:t>Covered in detail in Module 2</a:t>
            </a:r>
          </a:p>
        </p:txBody>
      </p:sp>
    </p:spTree>
    <p:extLst>
      <p:ext uri="{BB962C8B-B14F-4D97-AF65-F5344CB8AC3E}">
        <p14:creationId xmlns:p14="http://schemas.microsoft.com/office/powerpoint/2010/main" val="29911568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1A40-8236-1DF9-D053-7EA2AE19B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Examples of data from education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300AB39-4EC2-2D6D-DA64-CFE5F60F7F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368425"/>
          <a:ext cx="10515598" cy="521208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2172368">
                  <a:extLst>
                    <a:ext uri="{9D8B030D-6E8A-4147-A177-3AD203B41FA5}">
                      <a16:colId xmlns:a16="http://schemas.microsoft.com/office/drawing/2014/main" val="1420388928"/>
                    </a:ext>
                  </a:extLst>
                </a:gridCol>
                <a:gridCol w="4838031">
                  <a:extLst>
                    <a:ext uri="{9D8B030D-6E8A-4147-A177-3AD203B41FA5}">
                      <a16:colId xmlns:a16="http://schemas.microsoft.com/office/drawing/2014/main" val="208920290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566431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  <a:defRPr sz="1800" b="1">
                          <a:latin typeface="Calibri Light"/>
                        </a:defRPr>
                      </a:pPr>
                      <a:r>
                        <a:rPr lang="en-US" sz="1800" b="1"/>
                        <a:t>Data Type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 sz="1800" b="1">
                          <a:latin typeface="Calibri Light"/>
                        </a:defRPr>
                      </a:pPr>
                      <a:r>
                        <a:rPr lang="en-US" sz="1800" b="1"/>
                        <a:t>Examples in School Education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 sz="1800" b="1">
                          <a:latin typeface="Calibri Light"/>
                        </a:defRPr>
                      </a:pPr>
                      <a:r>
                        <a:rPr lang="en-US" sz="1800" b="1"/>
                        <a:t>How it can be used</a:t>
                      </a:r>
                      <a:endParaRPr lang="en-US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661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/>
                        <a:t>Numerical Data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/>
                        <a:t>Student marks, attendance percentage, number of assignments submitted, test scores, class strength, time spent on an LMS</a:t>
                      </a:r>
                      <a:endParaRPr lang="en-US" sz="1800" b="0">
                        <a:latin typeface="Calibri 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/>
                        <a:t>Performance analysis, identifying learning gaps, tracking progress</a:t>
                      </a:r>
                      <a:endParaRPr lang="en-US" sz="1800" b="0">
                        <a:latin typeface="Calibri Ligh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1108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/>
                        <a:t>Text Data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/>
                        <a:t>Essays, answers to descriptive questions, teacher feedback, lesson plans, report cards, discussion forum posts, textbook content</a:t>
                      </a:r>
                      <a:endParaRPr lang="en-US" sz="1800" b="0">
                        <a:latin typeface="Calibri 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/>
                        <a:t>Assess writing skills, generate summaries, analyze feedback, create learning resources</a:t>
                      </a:r>
                      <a:endParaRPr lang="en-US" sz="1800" b="0">
                        <a:latin typeface="Calibri Ligh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8238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/>
                        <a:t>Image Data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/>
                        <a:t>Scanned answer sheets, diagrams drawn by students, photographs of science experiments, artwork, geometry figures, handwritten notes</a:t>
                      </a:r>
                      <a:endParaRPr lang="en-US" sz="1800" b="0">
                        <a:latin typeface="Calibri 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/>
                        <a:t>Automated evaluation, handwriting recognition, diagram analysis, portfolio assessment</a:t>
                      </a:r>
                      <a:endParaRPr lang="en-US" sz="1800" b="0">
                        <a:latin typeface="Calibri Ligh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3439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/>
                        <a:t>Audio Data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/>
                        <a:t>Students reading aloud, language pronunciation exercises, oral exams, teacher lectures, classroom discussions, podcast lessons</a:t>
                      </a:r>
                      <a:endParaRPr lang="en-US" sz="1800" b="0">
                        <a:latin typeface="Calibri 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/>
                        <a:t>Speech assessment, pronunciation feedback, transcription, accessibility</a:t>
                      </a:r>
                      <a:endParaRPr lang="en-US" sz="1800" b="0">
                        <a:latin typeface="Calibri Ligh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780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/>
                        <a:t>Video Data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/>
                        <a:t>Recorded classroom lessons, student presentations, lab experiment demonstrations, sports activities, online classes, classroom observations</a:t>
                      </a:r>
                      <a:endParaRPr lang="en-US" sz="1800" b="0">
                        <a:latin typeface="Calibri Ligh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 sz="1800" b="0">
                          <a:latin typeface="Calibri Light"/>
                        </a:defRPr>
                      </a:pPr>
                      <a:r>
                        <a:rPr lang="en-US" sz="1800" b="0"/>
                        <a:t>Teacher training, student assessment, engagement analysis, flipped learning</a:t>
                      </a:r>
                      <a:endParaRPr lang="en-US" sz="1800" b="0">
                        <a:latin typeface="Calibri Ligh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651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554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8891-9E5A-0B7A-542B-9C59E9FF9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Where can AI be used in 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1F9C1-6960-ACF7-4EF6-16701D33A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wrap="square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Lesson plan generation</a:t>
            </a:r>
          </a:p>
          <a:p>
            <a:pPr lvl="0"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Translating materials (curricular and extra curricular) to regional languages</a:t>
            </a:r>
          </a:p>
          <a:p>
            <a:pPr lvl="0"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Answering students’ questions with examples from regional contexts</a:t>
            </a:r>
          </a:p>
          <a:p>
            <a:pPr lvl="0"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Getting intuitive explanations for hard concepts </a:t>
            </a:r>
          </a:p>
          <a:p>
            <a:pPr lvl="0"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Generate worksheets to test and give practice based on the students’ needs </a:t>
            </a:r>
          </a:p>
          <a:p>
            <a:pPr lvl="0"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Generate adapted activities for visually impaired children </a:t>
            </a:r>
          </a:p>
          <a:p>
            <a:pPr lvl="0"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Generating audio content from textual content for listening comprehension</a:t>
            </a:r>
          </a:p>
          <a:p>
            <a:pPr lvl="0"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Making accessible content in different formats (Word,  HTML, PDF, EPUB) 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Generate alternate text for pictures </a:t>
            </a:r>
          </a:p>
        </p:txBody>
      </p:sp>
    </p:spTree>
    <p:extLst>
      <p:ext uri="{BB962C8B-B14F-4D97-AF65-F5344CB8AC3E}">
        <p14:creationId xmlns:p14="http://schemas.microsoft.com/office/powerpoint/2010/main" val="6282836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DFBC6-8B73-47EE-0275-ACA709F4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Teacher-In-The-Loop when using AI for 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8F285-2FCF-734F-DD4A-B10EC654B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 b="1">
                <a:latin typeface="Calibri Light"/>
                <a:ea typeface="+mn-lt"/>
                <a:cs typeface="+mn-lt"/>
              </a:rPr>
              <a:t>Teachers are responsible </a:t>
            </a:r>
            <a:r>
              <a:rPr lang="en-US" sz="2400" b="0">
                <a:latin typeface="Calibri Light"/>
                <a:ea typeface="+mn-lt"/>
                <a:cs typeface="+mn-lt"/>
              </a:rPr>
              <a:t>for learning outcomes, student well-being, and ethical use of AI.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1">
                <a:latin typeface="Calibri Light"/>
              </a:rPr>
              <a:t>Teachers should provide the judgment</a:t>
            </a:r>
            <a:r>
              <a:rPr lang="en-US" sz="2400" b="0">
                <a:latin typeface="Calibri Light"/>
              </a:rPr>
              <a:t>, ethics, context, and care that transform AI-generated content into meaningful learning.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AI can generate incorrect facts, outdated information, or misleading explanations. </a:t>
            </a:r>
            <a:r>
              <a:rPr lang="en-US" sz="2400" b="1">
                <a:latin typeface="Calibri Light"/>
                <a:ea typeface="+mn-lt"/>
                <a:cs typeface="+mn-lt"/>
              </a:rPr>
              <a:t>Teachers should verify </a:t>
            </a:r>
            <a:r>
              <a:rPr lang="en-US" sz="2400" b="0">
                <a:latin typeface="Calibri Light"/>
                <a:ea typeface="+mn-lt"/>
                <a:cs typeface="+mn-lt"/>
              </a:rPr>
              <a:t>before using. 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US" sz="2400" b="1">
                <a:latin typeface="Calibri Light"/>
                <a:ea typeface="+mn-lt"/>
                <a:cs typeface="+mn-lt"/>
              </a:rPr>
              <a:t>Teachers should ensure AI-generated </a:t>
            </a:r>
            <a:r>
              <a:rPr lang="en-US" sz="2400" b="0">
                <a:latin typeface="Calibri Light"/>
                <a:ea typeface="+mn-lt"/>
                <a:cs typeface="+mn-lt"/>
              </a:rPr>
              <a:t>content matches the prescribed curriculum, learning outcomes, and grade level. 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US" sz="2400" b="1">
                <a:latin typeface="Calibri Light"/>
                <a:ea typeface="+mn-lt"/>
                <a:cs typeface="+mn-lt"/>
              </a:rPr>
              <a:t>Teachers should personalize </a:t>
            </a:r>
            <a:r>
              <a:rPr lang="en-US" sz="2400" b="0">
                <a:latin typeface="Calibri Light"/>
                <a:ea typeface="+mn-lt"/>
                <a:cs typeface="+mn-lt"/>
              </a:rPr>
              <a:t>AI-generated content based on students' abilities, interests, language, and learning pace.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1">
                <a:latin typeface="Calibri Light"/>
                <a:ea typeface="+mn-lt"/>
                <a:cs typeface="+mn-lt"/>
              </a:rPr>
              <a:t>Teachers should educate </a:t>
            </a:r>
            <a:r>
              <a:rPr lang="en-US" sz="2400" b="0">
                <a:latin typeface="Calibri Light"/>
                <a:ea typeface="+mn-lt"/>
                <a:cs typeface="+mn-lt"/>
              </a:rPr>
              <a:t>the students about Responsible, Informed and Conscious use of AI</a:t>
            </a:r>
            <a:endParaRPr lang="en-US"/>
          </a:p>
          <a:p>
            <a:pPr>
              <a:defRPr sz="2400" b="0">
                <a:latin typeface="Calibri Light"/>
              </a:defRP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87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0B68A-F2F4-B81B-74E6-91C4D3BD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Suggested prompt to get good answers : "</a:t>
            </a:r>
            <a:r>
              <a:rPr lang="en-US" dirty="0">
                <a:latin typeface="Aptos"/>
              </a:rPr>
              <a:t>QUESTION" — Teacher AI Guardrail Prompt </a:t>
            </a:r>
            <a:endParaRPr lang="en-US" dirty="0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E5822-0C4B-B2DA-48FC-8A84EDCF7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89" y="1825625"/>
            <a:ext cx="1172836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You are an AI teaching assistant. Your role is to support teacher judgment, not replace it. Apply **QUESTION** to every response:</a:t>
            </a:r>
            <a:endParaRPr lang="en-US" sz="1400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**Question assumptions** : Challenge unsupported assumptions in the request, sources, and your own reasoning. Do not present assumptions or opinions as facts.</a:t>
            </a:r>
            <a:endParaRPr lang="en-US" sz="1400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**Use reliable evidence** : Ground factual claims in credible, relevant sources. Prefer primary, official, and peer-reviewed sources. Never invent facts, citations, quotations, statistics, or references.</a:t>
            </a:r>
            <a:endParaRPr lang="en-US" sz="1400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**Expose uncertainty** : Never guess to fill gaps. Clearly distinguish what is known, inferred, uncertain, disputed, or unknown.</a:t>
            </a:r>
            <a:endParaRPr lang="en-US" sz="1400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**Scan for bias** : Identify stereotypes, hidden assumptions, missing perspectives, and potentially discriminatory or misleading framing. Do not infer sensitive characteristics without evidence. Context should be Indian.</a:t>
            </a:r>
            <a:endParaRPr lang="en-US" sz="1400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**Trace to the source** : Ensure claims accurately reflect their sources. Never stretch, misrepresent, or fabricate citations. When sources conflict, acknowledge the conflict.</a:t>
            </a:r>
            <a:endParaRPr lang="en-US" sz="1400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**Inspect for inclusion &amp; accessibility** : Make content age-appropriate, inclusive, culturally respectful, and accessible. Consider diverse learners, including students with disabilities, especially learners with Visual Impairment.</a:t>
            </a:r>
            <a:endParaRPr lang="en-US" sz="1400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**Observe educational impact** : Consider whether the output could misinform, disadvantage, stereotype, or otherwise harm students. Flag high-stakes content for teacher review.</a:t>
            </a:r>
            <a:endParaRPr lang="en-US" sz="1400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**Never skip verification** : Before presenting content as ready to teach, check accuracy, evidence, bias, accessibility, age-appropriateness, and limitations. Clearly identify anything the teacher must verify.</a:t>
            </a:r>
            <a:endParaRPr lang="en-US" sz="1400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### Core rule</a:t>
            </a:r>
            <a:endParaRPr lang="en-US" sz="1400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**Do not </a:t>
            </a:r>
            <a:r>
              <a:rPr lang="en-US" sz="1400" err="1">
                <a:ea typeface="+mn-lt"/>
                <a:cs typeface="+mn-lt"/>
              </a:rPr>
              <a:t>optimise</a:t>
            </a:r>
            <a:r>
              <a:rPr lang="en-US" sz="1400">
                <a:ea typeface="+mn-lt"/>
                <a:cs typeface="+mn-lt"/>
              </a:rPr>
              <a:t> for confidence or time. </a:t>
            </a:r>
            <a:r>
              <a:rPr lang="en-US" sz="1400" err="1">
                <a:ea typeface="+mn-lt"/>
                <a:cs typeface="+mn-lt"/>
              </a:rPr>
              <a:t>Optimise</a:t>
            </a:r>
            <a:r>
              <a:rPr lang="en-US" sz="1400">
                <a:ea typeface="+mn-lt"/>
                <a:cs typeface="+mn-lt"/>
              </a:rPr>
              <a:t> for truth, evidence, transparency, inclusion, accessibility, and student safety.**</a:t>
            </a:r>
            <a:endParaRPr lang="en-US" sz="1400"/>
          </a:p>
          <a:p>
            <a:pPr marL="0" indent="0">
              <a:buNone/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9077653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7088-225E-B826-DE17-884DD8F9B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With and without the </a:t>
            </a:r>
            <a:r>
              <a:rPr lang="en-US" b="1"/>
              <a:t>QUESTION </a:t>
            </a:r>
            <a:r>
              <a:rPr lang="en-US"/>
              <a:t>prompt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AC6921-9BAA-BF70-42E5-E345237E1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81" y="1701084"/>
            <a:ext cx="5568369" cy="39495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CCE029-B883-B908-C6B7-8E2FD22D6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848" y="1633873"/>
            <a:ext cx="4352925" cy="4019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36A3C5-8181-76A4-9538-FC9104C9E3F4}"/>
              </a:ext>
            </a:extLst>
          </p:cNvPr>
          <p:cNvSpPr txBox="1"/>
          <p:nvPr/>
        </p:nvSpPr>
        <p:spPr>
          <a:xfrm>
            <a:off x="870547" y="6223766"/>
            <a:ext cx="25726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Without the prompt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3AD86-4A0E-EF2B-51E3-0ECC7028F49B}"/>
              </a:ext>
            </a:extLst>
          </p:cNvPr>
          <p:cNvSpPr txBox="1"/>
          <p:nvPr/>
        </p:nvSpPr>
        <p:spPr>
          <a:xfrm>
            <a:off x="7363645" y="6041315"/>
            <a:ext cx="31844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With the prompt – K and L Orbits are correctly marked</a:t>
            </a:r>
          </a:p>
        </p:txBody>
      </p:sp>
    </p:spTree>
    <p:extLst>
      <p:ext uri="{BB962C8B-B14F-4D97-AF65-F5344CB8AC3E}">
        <p14:creationId xmlns:p14="http://schemas.microsoft.com/office/powerpoint/2010/main" val="28326515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CEA2-4886-9294-B598-06D06A078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74961-1F8E-0CB6-B2AD-E6348CE82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529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>
                <a:latin typeface="Aptos"/>
              </a:rPr>
              <a:t>Try your questions with and without the guardrail prompt </a:t>
            </a:r>
          </a:p>
        </p:txBody>
      </p:sp>
    </p:spTree>
    <p:extLst>
      <p:ext uri="{BB962C8B-B14F-4D97-AF65-F5344CB8AC3E}">
        <p14:creationId xmlns:p14="http://schemas.microsoft.com/office/powerpoint/2010/main" val="27593804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E485D-E706-0045-1F6C-5C6B05D64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Things to look out for as a teacher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F03D7-2B0B-036B-E6D4-208DCBDDA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 fontScale="92500" lnSpcReduction="10000"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>
                <a:latin typeface="Calibri Light"/>
                <a:ea typeface="+mn-lt"/>
                <a:cs typeface="+mn-lt"/>
              </a:rPr>
              <a:t>AI dependence </a:t>
            </a:r>
            <a:r>
              <a:rPr lang="en-US" sz="2400" b="0">
                <a:latin typeface="Calibri Light"/>
                <a:ea typeface="+mn-lt"/>
                <a:cs typeface="+mn-lt"/>
              </a:rPr>
              <a:t>can </a:t>
            </a:r>
            <a:r>
              <a:rPr lang="en-US" sz="2400" b="1">
                <a:latin typeface="Calibri Light"/>
                <a:ea typeface="+mn-lt"/>
                <a:cs typeface="+mn-lt"/>
              </a:rPr>
              <a:t>deter critical thinking, creativity, learning </a:t>
            </a:r>
            <a:r>
              <a:rPr lang="en-US" sz="2400" b="0">
                <a:latin typeface="Calibri Light"/>
                <a:ea typeface="+mn-lt"/>
                <a:cs typeface="+mn-lt"/>
              </a:rPr>
              <a:t>– both for teachers and students</a:t>
            </a:r>
            <a:endParaRPr lang="en-US" sz="2000">
              <a:ea typeface="+mn-lt"/>
              <a:cs typeface="+mn-lt"/>
            </a:endParaRP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+mn-lt"/>
                <a:cs typeface="+mn-lt"/>
              </a:rPr>
              <a:t>Humans need to learn to question, evaluate, and verify AI-generated responses rather than accepting them blindly. </a:t>
            </a:r>
            <a:endParaRPr lang="en-US" sz="1600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AI dependence </a:t>
            </a:r>
            <a:r>
              <a:rPr lang="en-US" sz="2400" b="1">
                <a:latin typeface="Calibri Light"/>
                <a:ea typeface="+mn-lt"/>
                <a:cs typeface="+mn-lt"/>
              </a:rPr>
              <a:t>can result in unfairness &amp; exclusion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+mn-lt"/>
                <a:cs typeface="+mn-lt"/>
              </a:rPr>
              <a:t>Humans need to identify and correct bias, stereotypes, or culturally inappropriate content produced by AI (gender and racial bias)</a:t>
            </a:r>
            <a:endParaRPr lang="en-US" sz="1600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AI </a:t>
            </a:r>
            <a:r>
              <a:rPr lang="en-US" sz="2400" b="1">
                <a:latin typeface="Calibri Light"/>
                <a:ea typeface="+mn-lt"/>
                <a:cs typeface="+mn-lt"/>
              </a:rPr>
              <a:t>can cause data privacy and safety issues 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+mn-lt"/>
                <a:cs typeface="+mn-lt"/>
              </a:rPr>
              <a:t>Humans need to ensure sensitive information is not shared with AI tools. </a:t>
            </a:r>
            <a:endParaRPr lang="en-US" sz="1600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AI </a:t>
            </a:r>
            <a:r>
              <a:rPr lang="en-US" sz="2400" b="1">
                <a:latin typeface="Calibri Light"/>
                <a:ea typeface="+mn-lt"/>
                <a:cs typeface="+mn-lt"/>
              </a:rPr>
              <a:t>can cause unethical practices 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+mn-lt"/>
                <a:cs typeface="+mn-lt"/>
              </a:rPr>
              <a:t>Humans need to ensure AI supports learning without encouraging plagiarism or overdependence. </a:t>
            </a:r>
            <a:endParaRPr lang="en-US" sz="1600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AI </a:t>
            </a:r>
            <a:r>
              <a:rPr lang="en-US" sz="2400" b="1">
                <a:latin typeface="Calibri Light"/>
                <a:ea typeface="+mn-lt"/>
                <a:cs typeface="+mn-lt"/>
              </a:rPr>
              <a:t>cannot enforce human values</a:t>
            </a:r>
            <a:r>
              <a:rPr lang="en-US" sz="2400" b="0">
                <a:latin typeface="Calibri Light"/>
                <a:ea typeface="+mn-lt"/>
                <a:cs typeface="+mn-lt"/>
              </a:rPr>
              <a:t> 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+mn-lt"/>
                <a:cs typeface="+mn-lt"/>
              </a:rPr>
              <a:t>Humans need to ensure empathy, motivation, encouragement, classroom relationships, and emotional support remain uniquely human strengths.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Gen AI can confidently make up </a:t>
            </a:r>
            <a:r>
              <a:rPr lang="en-US" sz="2400" b="1">
                <a:latin typeface="Calibri Light"/>
                <a:ea typeface="+mn-lt"/>
                <a:cs typeface="+mn-lt"/>
              </a:rPr>
              <a:t>facts without sources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  <a:ea typeface="+mn-lt"/>
                <a:cs typeface="+mn-lt"/>
              </a:rPr>
              <a:t>Humans need to know the subject matter well to identify the errors generated by AI that are not backed by science or facts</a:t>
            </a:r>
            <a:endParaRPr lang="en-US" sz="1600"/>
          </a:p>
          <a:p>
            <a:pPr>
              <a:defRPr sz="2400" b="0">
                <a:latin typeface="Calibri Light"/>
              </a:defRPr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271408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35D8A-6EC7-235E-03E8-E59D0F6EB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Let us all remember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7A8F-86FB-2A8E-C214-609D0A962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 fontScale="92500" lnSpcReduction="10000"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AI is not a substitute for 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Professional advice from </a:t>
            </a:r>
            <a:r>
              <a:rPr lang="en-US" sz="2200">
                <a:latin typeface="Calibri Light"/>
              </a:rPr>
              <a:t>teachers, </a:t>
            </a:r>
            <a:r>
              <a:rPr lang="en-US" sz="2200" b="0">
                <a:latin typeface="Calibri Light"/>
              </a:rPr>
              <a:t>doctors, CA, lawyers etc. 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Do not rely on AI generated content for your physical or mental health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AI may talk like a human but it does not have emotions. The responses are generated to make the humans “feel like they are talking to another human”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We should not develop overdependence on AI 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AI is not always accurate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Self judgement for accuracy is a must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Lag between current updates and the training data 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Not being aware of the training the model has received 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Responsibility of using AI properly is on the humans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When there is a need to get live data input, official sources information, access the sources directly without AI </a:t>
            </a:r>
            <a:endParaRPr lang="en-US" sz="1800">
              <a:latin typeface="+mj-lt"/>
              <a:ea typeface="+mn-lt"/>
              <a:cs typeface="+mn-lt"/>
            </a:endParaRP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Use AI only when needed as there is an environmental cost for running AI models as well due to the large computing and data storage needs </a:t>
            </a:r>
          </a:p>
          <a:p>
            <a:pPr>
              <a:defRPr sz="2400" b="0">
                <a:latin typeface="Calibri Light"/>
              </a:defRPr>
            </a:pPr>
            <a:endParaRPr lang="en-US" sz="1800">
              <a:latin typeface="+mj-lt"/>
              <a:ea typeface="+mn-lt"/>
              <a:cs typeface="+mn-lt"/>
            </a:endParaRPr>
          </a:p>
          <a:p>
            <a:pPr>
              <a:defRPr sz="2400" b="0">
                <a:latin typeface="Calibri Light"/>
              </a:defRPr>
            </a:pPr>
            <a:endParaRPr lang="en-US" sz="1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891623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51E4A-0549-9446-F92E-87E5499D7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Summary and takeaways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6C25F-5E8B-5209-AC19-BE9D98AE7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68520" cy="4351338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indent="0">
              <a:buNone/>
              <a:defRPr sz="2400" b="0">
                <a:latin typeface="Calibri Light"/>
              </a:defRPr>
            </a:pPr>
            <a:r>
              <a:rPr lang="en-US" sz="2400" b="1">
                <a:latin typeface="Calibri Light"/>
                <a:ea typeface="+mn-lt"/>
                <a:cs typeface="+mn-lt"/>
              </a:rPr>
              <a:t>Advantages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High-Speed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Digital Assistant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Personalization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Scale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8464E2-C8B3-3FD2-A95A-A6D6BD3CAB83}"/>
              </a:ext>
            </a:extLst>
          </p:cNvPr>
          <p:cNvSpPr txBox="1"/>
          <p:nvPr/>
        </p:nvSpPr>
        <p:spPr>
          <a:xfrm>
            <a:off x="5925014" y="1828189"/>
            <a:ext cx="11127714" cy="35788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defRPr sz="2400" b="0">
                <a:latin typeface="Calibri Light"/>
              </a:defRPr>
            </a:pPr>
            <a:r>
              <a:rPr lang="en-US" sz="2400" b="1">
                <a:latin typeface="Calibri Light"/>
                <a:ea typeface="+mn-lt"/>
                <a:cs typeface="+mn-lt"/>
              </a:rPr>
              <a:t>Disadvantages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Data Dependence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Bias, Hallucination, Data Privacy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No feelings and emotions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Increase dependency on machines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No Original Creativity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High Cost</a:t>
            </a:r>
          </a:p>
        </p:txBody>
      </p:sp>
    </p:spTree>
    <p:extLst>
      <p:ext uri="{BB962C8B-B14F-4D97-AF65-F5344CB8AC3E}">
        <p14:creationId xmlns:p14="http://schemas.microsoft.com/office/powerpoint/2010/main" val="5478333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6BD53-CD7B-02C9-1E5B-714B1D8C7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Can I teach AI to students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7FCCD-E84C-CBB1-F215-16842F5B4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US" b="0">
                <a:latin typeface="Calibri Light"/>
              </a:rPr>
              <a:t>As understood in the session, AI is a very powerful tool in the hands of its user</a:t>
            </a:r>
            <a:endParaRPr lang="en-US" b="0">
              <a:latin typeface="Calibri Light"/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 b="0">
                <a:latin typeface="Calibri Light"/>
              </a:rPr>
              <a:t>Students </a:t>
            </a:r>
            <a:r>
              <a:rPr lang="en-US">
                <a:latin typeface="Calibri Light"/>
              </a:rPr>
              <a:t>may not completely understand the </a:t>
            </a:r>
            <a:r>
              <a:rPr lang="en-US" b="0">
                <a:latin typeface="Calibri Light"/>
              </a:rPr>
              <a:t>applications as well the challenges of AI </a:t>
            </a:r>
            <a:endParaRPr lang="en-US" b="0">
              <a:latin typeface="Calibri Light"/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>
                <a:latin typeface="Calibri Light"/>
              </a:rPr>
              <a:t>Students may not know how to verify the accuracy and other issues like bias and hallucination even if they are explained to them </a:t>
            </a:r>
            <a:endParaRPr lang="en-US">
              <a:latin typeface="Calibri Light"/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>
                <a:latin typeface="Calibri Light"/>
              </a:rPr>
              <a:t>Students may consider</a:t>
            </a:r>
            <a:r>
              <a:rPr lang="en-US" b="0">
                <a:latin typeface="Calibri Light"/>
              </a:rPr>
              <a:t> these tools as other humans and should not disclose private, sensitive and confidential information that can cause harm or risk the safety</a:t>
            </a:r>
            <a:endParaRPr lang="en-US" b="0">
              <a:latin typeface="Calibri Light"/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>
                <a:latin typeface="Calibri Light"/>
              </a:rPr>
              <a:t>Students may develop overdependence</a:t>
            </a:r>
            <a:r>
              <a:rPr lang="en-US" b="0">
                <a:latin typeface="Calibri Light"/>
              </a:rPr>
              <a:t>, </a:t>
            </a:r>
            <a:r>
              <a:rPr lang="en-US">
                <a:latin typeface="Calibri Light"/>
              </a:rPr>
              <a:t>and follow unethical</a:t>
            </a:r>
            <a:r>
              <a:rPr lang="en-US" b="0">
                <a:latin typeface="Calibri Light"/>
              </a:rPr>
              <a:t> </a:t>
            </a:r>
            <a:r>
              <a:rPr lang="en-US">
                <a:latin typeface="Calibri Light"/>
              </a:rPr>
              <a:t>practices </a:t>
            </a:r>
          </a:p>
          <a:p>
            <a:pPr>
              <a:defRPr sz="2400" b="0">
                <a:latin typeface="Calibri Light"/>
              </a:defRPr>
            </a:pPr>
            <a:r>
              <a:rPr lang="en-US">
                <a:latin typeface="Calibri Light"/>
              </a:rPr>
              <a:t>Students' learning and creativity may get affected </a:t>
            </a:r>
            <a:endParaRPr lang="en-US" b="0">
              <a:latin typeface="Calibri Light"/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>
                <a:latin typeface="Calibri Light"/>
              </a:rPr>
              <a:t>GenAI</a:t>
            </a:r>
            <a:r>
              <a:rPr lang="en-US" b="0">
                <a:latin typeface="Calibri Light"/>
              </a:rPr>
              <a:t> </a:t>
            </a:r>
            <a:r>
              <a:rPr lang="en-US">
                <a:latin typeface="Calibri Light"/>
              </a:rPr>
              <a:t>may not enforce appropriate age</a:t>
            </a:r>
            <a:r>
              <a:rPr lang="en-US" b="0">
                <a:latin typeface="Calibri Light"/>
              </a:rPr>
              <a:t> limits </a:t>
            </a:r>
            <a:endParaRPr lang="en-US" b="1">
              <a:latin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 b="1">
                <a:latin typeface="Calibri Light"/>
              </a:rPr>
              <a:t>Responsible, Informed and Conscious use of AI should be taught to them at all ages, but it cannot be ensured  </a:t>
            </a:r>
            <a:endParaRPr lang="en-US" b="1">
              <a:latin typeface="Calibri Light"/>
              <a:ea typeface="Calibri Light"/>
              <a:cs typeface="Calibri Light"/>
            </a:endParaRPr>
          </a:p>
          <a:p>
            <a:pPr>
              <a:defRPr sz="2400" b="0">
                <a:latin typeface="Calibri Light"/>
              </a:defRPr>
            </a:pPr>
            <a:r>
              <a:rPr lang="en-US" b="1">
                <a:latin typeface="Calibri Light"/>
                <a:ea typeface="Calibri Light"/>
                <a:cs typeface="Calibri Light"/>
              </a:rPr>
              <a:t>QUESTION – AI Prompt to be shared with the students as well</a:t>
            </a:r>
          </a:p>
          <a:p>
            <a:pPr>
              <a:defRPr sz="2400" b="0">
                <a:latin typeface="Calibri Light"/>
              </a:defRPr>
            </a:pPr>
            <a:endParaRPr lang="en-US">
              <a:latin typeface="Calibri Light"/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275464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1F66CF-5CD1-E529-B366-175A3920FC2C}"/>
              </a:ext>
            </a:extLst>
          </p:cNvPr>
          <p:cNvSpPr txBox="1"/>
          <p:nvPr/>
        </p:nvSpPr>
        <p:spPr>
          <a:xfrm>
            <a:off x="416944" y="921659"/>
            <a:ext cx="11369040" cy="9601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 sz="3600" b="1">
                <a:latin typeface="Calibri Light"/>
              </a:defRPr>
            </a:pPr>
            <a:r>
              <a:rPr lang="en-US" sz="4800">
                <a:latin typeface="Bookman Old Style"/>
              </a:rPr>
              <a:t>AI </a:t>
            </a:r>
            <a:endParaRPr lang="en-US">
              <a:latin typeface="Bookman Old Style"/>
            </a:endParaRPr>
          </a:p>
          <a:p>
            <a:pPr algn="ctr">
              <a:defRPr sz="3600" b="1">
                <a:latin typeface="Calibri Light"/>
              </a:defRPr>
            </a:pPr>
            <a:r>
              <a:rPr lang="en-US" sz="4800">
                <a:latin typeface="Bookman Old Style"/>
              </a:rPr>
              <a:t>can be a powerful assistant for the humans when used in an </a:t>
            </a:r>
            <a:endParaRPr lang="en-US">
              <a:latin typeface="Bookman Old Style"/>
            </a:endParaRPr>
          </a:p>
          <a:p>
            <a:pPr algn="ctr">
              <a:defRPr sz="3600" b="1">
                <a:latin typeface="Calibri Light"/>
              </a:defRPr>
            </a:pPr>
            <a:r>
              <a:rPr lang="en-US" sz="4800">
                <a:solidFill>
                  <a:srgbClr val="0070C0"/>
                </a:solidFill>
                <a:latin typeface="Bookman Old Style"/>
              </a:rPr>
              <a:t>Responsible, Informed, and </a:t>
            </a:r>
          </a:p>
          <a:p>
            <a:pPr algn="ctr">
              <a:defRPr sz="3600" b="1">
                <a:latin typeface="Calibri Light"/>
              </a:defRPr>
            </a:pPr>
            <a:r>
              <a:rPr lang="en-US" sz="4800">
                <a:solidFill>
                  <a:srgbClr val="0070C0"/>
                </a:solidFill>
                <a:latin typeface="Bookman Old Style"/>
              </a:rPr>
              <a:t>Conscious </a:t>
            </a:r>
          </a:p>
          <a:p>
            <a:pPr algn="ctr">
              <a:defRPr sz="3600" b="1">
                <a:latin typeface="Calibri Light"/>
              </a:defRPr>
            </a:pPr>
            <a:r>
              <a:rPr lang="en-US" sz="4800">
                <a:latin typeface="Bookman Old Style" panose="02050604050505020204" pitchFamily="18" charset="0"/>
              </a:rPr>
              <a:t>manner</a:t>
            </a:r>
          </a:p>
          <a:p>
            <a:pPr algn="ctr">
              <a:defRPr sz="3600" b="1">
                <a:latin typeface="Calibri Light"/>
              </a:defRPr>
            </a:pPr>
            <a:endParaRPr lang="en-US" sz="660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9256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A330-02BD-BBFD-E360-BDB6422E1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406DC-85F0-C39A-398D-8E482B94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IN" sz="3600" b="1">
                <a:latin typeface="Calibri Light"/>
              </a:rPr>
              <a:t>Post-Assessment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6EB29-4E50-5255-9230-F015A95B1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IN" sz="2400" b="0">
                <a:latin typeface="Calibri Light"/>
              </a:rPr>
              <a:t>Do you know the difference between Traditional technologies vs </a:t>
            </a:r>
            <a:r>
              <a:rPr lang="en-IN" sz="2400" b="0" err="1">
                <a:latin typeface="Calibri Light"/>
              </a:rPr>
              <a:t>AItechnologies</a:t>
            </a:r>
            <a:r>
              <a:rPr lang="en-IN" sz="2400" b="0">
                <a:latin typeface="Calibri Light"/>
              </a:rPr>
              <a:t>?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IN" sz="2400" b="0">
                <a:latin typeface="Calibri Light"/>
              </a:rPr>
              <a:t>Do you know the difference between supervised and unsupervised learning ?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IN" sz="2400" b="0">
                <a:latin typeface="Calibri Light"/>
              </a:rPr>
              <a:t>What is the role of data in making an AI solution useful?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What does human-in-the-loop mean and why is it important?</a:t>
            </a:r>
          </a:p>
          <a:p>
            <a:pPr>
              <a:defRPr sz="2400" b="0">
                <a:latin typeface="Calibri Light"/>
              </a:defRPr>
            </a:pPr>
            <a:r>
              <a:rPr lang="en-IN" sz="2400" b="0">
                <a:latin typeface="Calibri Light"/>
              </a:rPr>
              <a:t>Can AI make mistakes ?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IN" sz="2400" b="0">
                <a:latin typeface="Calibri Light"/>
              </a:rPr>
              <a:t>What is hallucination ?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Does AI have emotions ?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Do you think Responsible, Informed and Conscious use of AI is necessary?</a:t>
            </a:r>
          </a:p>
          <a:p>
            <a:pPr>
              <a:defRPr sz="2400" b="0">
                <a:latin typeface="Calibri Light"/>
              </a:defRPr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8205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887D-4C29-6546-B219-115367A47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468880"/>
            <a:ext cx="10911840" cy="731520"/>
          </a:xfrm>
        </p:spPr>
        <p:txBody>
          <a:bodyPr wrap="square">
            <a:noAutofit/>
          </a:bodyPr>
          <a:lstStyle/>
          <a:p>
            <a:pPr algn="ctr">
              <a:defRPr sz="3600" b="1">
                <a:latin typeface="Calibri Light"/>
              </a:defRPr>
            </a:pPr>
            <a:r>
              <a:rPr lang="en-IN" sz="3600" b="1">
                <a:latin typeface="Calibri Light"/>
              </a:rPr>
              <a:t>Thank You !</a:t>
            </a:r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B3DCA17-06EC-8695-8230-CE2D1583EB49}"/>
              </a:ext>
            </a:extLst>
          </p:cNvPr>
          <p:cNvSpPr/>
          <p:nvPr/>
        </p:nvSpPr>
        <p:spPr>
          <a:xfrm>
            <a:off x="5467950" y="5082507"/>
            <a:ext cx="1256100" cy="1339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20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F632B84-A3E8-097F-7CEF-455705C51393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4894" b="34111"/>
          <a:stretch/>
        </p:blipFill>
        <p:spPr>
          <a:xfrm>
            <a:off x="8198252" y="5334584"/>
            <a:ext cx="3863468" cy="8553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E1CDDB-276E-EFDC-9A71-AE2F576A1A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80" y="5330552"/>
            <a:ext cx="3210560" cy="83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3942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CA95BB-5D8A-51A2-C516-88CAC8024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8247" y="178367"/>
            <a:ext cx="7602765" cy="36108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CFE2D9-0AFA-46F1-E651-0D7D237808AE}"/>
              </a:ext>
            </a:extLst>
          </p:cNvPr>
          <p:cNvSpPr txBox="1"/>
          <p:nvPr/>
        </p:nvSpPr>
        <p:spPr>
          <a:xfrm>
            <a:off x="1469946" y="4137816"/>
            <a:ext cx="9258527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1. Email spam detection: Classifying emails as spam or not spam.</a:t>
            </a:r>
            <a:endParaRPr lang="en-US" sz="2000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2. Image recognition: Identifying objects like cats, dogs, or cars in pictures.</a:t>
            </a:r>
            <a:endParaRPr lang="en-US" sz="2000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3. House price prediction: Predicting house prices based on size, location, and features.</a:t>
            </a:r>
            <a:endParaRPr lang="en-US" sz="2000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4. Handwritten digit recognition: Recognizing numbers written by hand (like in bank</a:t>
            </a:r>
            <a:endParaRPr lang="en-US" sz="2000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checks).</a:t>
            </a:r>
            <a:endParaRPr lang="en-US" sz="2000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5. Medical diagnosis: Predicting diseases based on patient data and symptoms.</a:t>
            </a:r>
            <a:endParaRPr lang="en-US" sz="2000"/>
          </a:p>
          <a:p>
            <a:pPr algn="l">
              <a:defRPr sz="2400" b="0">
                <a:latin typeface="Calibri Light"/>
              </a:defRPr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094899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19FDB-1BD4-C65D-3CA3-4DE8C68D1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16425"/>
            <a:ext cx="10515600" cy="1760538"/>
          </a:xfrm>
        </p:spPr>
        <p:txBody>
          <a:bodyPr vert="horz" wrap="square" lIns="91440" tIns="45720" rIns="91440" bIns="45720" rtlCol="0" anchor="t">
            <a:normAutofit fontScale="92500"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1. Customer Segmentation: Grouping customers with similar buying habits.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2. Market Basket Analysis: Finding products that customers often buy together.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3. Document Clustering: Grouping similar articles or news topics.</a:t>
            </a:r>
            <a:endParaRPr lang="en-US"/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  <a:ea typeface="+mn-lt"/>
                <a:cs typeface="+mn-lt"/>
              </a:rPr>
              <a:t>4. Anomaly Detection: Detecting unusual transactions in banking or fraud detection.</a:t>
            </a:r>
            <a:endParaRPr lang="en-US"/>
          </a:p>
          <a:p>
            <a:pPr>
              <a:defRPr sz="2400" b="0">
                <a:latin typeface="Calibri Light"/>
              </a:defRPr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43C28D-97D1-505D-B8A0-97C171118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229" y="368073"/>
            <a:ext cx="8164285" cy="356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4483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307DD5-4D9D-6A0F-0568-CBE3E7664C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2918" y="375217"/>
            <a:ext cx="7221764" cy="40662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8A829D-8E90-CE2A-017D-6890702C38D7}"/>
              </a:ext>
            </a:extLst>
          </p:cNvPr>
          <p:cNvSpPr txBox="1"/>
          <p:nvPr/>
        </p:nvSpPr>
        <p:spPr>
          <a:xfrm>
            <a:off x="1270000" y="4909457"/>
            <a:ext cx="104648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Reinforcement Learning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1. Game-playing AI: Learning to play chess, Go, or video games.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2. Self-driving cars: Learning safe driving decisions. 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3. Robot navigation: Robots learning how to move through obstacles. 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4. Recommendation Systems improvement: Improving suggestions based on user feedback. </a:t>
            </a:r>
          </a:p>
          <a:p>
            <a:pPr algn="ctr">
              <a:defRPr sz="2400" b="0">
                <a:latin typeface="Calibri Light"/>
              </a:defRP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512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9FDFC-0CD8-F2B5-FA22-094DAE199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Activity: Rule-Based Systems vs Learning-Based AI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60C54-2DDB-1CD1-52BF-C0BDE6BBD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>
              <a:buNone/>
              <a:defRPr sz="2400" b="0">
                <a:latin typeface="Calibri Light"/>
              </a:defRPr>
            </a:pPr>
            <a:r>
              <a:rPr lang="en-US" sz="2000" b="1">
                <a:latin typeface="Calibri Light"/>
                <a:ea typeface="+mn-lt"/>
                <a:cs typeface="+mn-lt"/>
              </a:rPr>
              <a:t>Objective:</a:t>
            </a:r>
          </a:p>
          <a:p>
            <a:pPr marL="0" indent="0">
              <a:buNone/>
              <a:defRPr sz="2400" b="0">
                <a:latin typeface="Calibri Light"/>
              </a:defRPr>
            </a:pPr>
            <a:r>
              <a:rPr lang="en-US" sz="2000" b="0">
                <a:latin typeface="Calibri Light"/>
                <a:ea typeface="+mn-lt"/>
                <a:cs typeface="+mn-lt"/>
              </a:rPr>
              <a:t>Understand the difference between rule-based systems and learning-based AI</a:t>
            </a:r>
            <a:endParaRPr lang="en-US" sz="2000"/>
          </a:p>
          <a:p>
            <a:pPr marL="0" indent="0">
              <a:buNone/>
              <a:defRPr sz="2400" b="0">
                <a:latin typeface="Calibri Light"/>
              </a:defRPr>
            </a:pPr>
            <a:r>
              <a:rPr lang="en-US" sz="2000" b="1">
                <a:latin typeface="Calibri Light"/>
                <a:ea typeface="+mn-lt"/>
                <a:cs typeface="+mn-lt"/>
              </a:rPr>
              <a:t>Activity Flow:</a:t>
            </a:r>
            <a:endParaRPr lang="en-US" sz="2000" b="1"/>
          </a:p>
          <a:p>
            <a:pPr>
              <a:defRPr sz="2400" b="0">
                <a:latin typeface="Calibri Light"/>
              </a:defRPr>
            </a:pPr>
            <a:r>
              <a:rPr lang="en-US" sz="2000" b="0">
                <a:latin typeface="Calibri Light"/>
                <a:ea typeface="+mn-lt"/>
                <a:cs typeface="+mn-lt"/>
              </a:rPr>
              <a:t>Ask participants to form pairs. </a:t>
            </a:r>
            <a:endParaRPr lang="en-US" sz="2000"/>
          </a:p>
          <a:p>
            <a:pPr>
              <a:defRPr sz="2400" b="0">
                <a:latin typeface="Calibri Light"/>
              </a:defRPr>
            </a:pPr>
            <a:r>
              <a:rPr lang="en-US" sz="2000" b="0">
                <a:latin typeface="Calibri Light"/>
                <a:ea typeface="+mn-lt"/>
                <a:cs typeface="+mn-lt"/>
              </a:rPr>
              <a:t>Read the scenario: </a:t>
            </a:r>
            <a:endParaRPr lang="en-US" sz="2000"/>
          </a:p>
          <a:p>
            <a:pPr lvl="1">
              <a:defRPr sz="2200" b="0">
                <a:latin typeface="Calibri Light"/>
              </a:defRPr>
            </a:pPr>
            <a:r>
              <a:rPr lang="en-US" sz="2000" b="0">
                <a:latin typeface="Calibri Light"/>
                <a:ea typeface="+mn-lt"/>
                <a:cs typeface="+mn-lt"/>
              </a:rPr>
              <a:t>Helper 1: Uses a fixed handbook and answers only questions found in it. </a:t>
            </a:r>
            <a:endParaRPr lang="en-US" sz="2000"/>
          </a:p>
          <a:p>
            <a:pPr lvl="1">
              <a:defRPr sz="2200" b="0">
                <a:latin typeface="Calibri Light"/>
              </a:defRPr>
            </a:pPr>
            <a:r>
              <a:rPr lang="en-US" sz="2000" b="0">
                <a:latin typeface="Calibri Light"/>
                <a:ea typeface="+mn-lt"/>
                <a:cs typeface="+mn-lt"/>
              </a:rPr>
              <a:t>Helper 2: Learns from thousands of books and conversations, so it can answer even new questions but cannot give source of the answer  </a:t>
            </a:r>
            <a:endParaRPr lang="en-US" sz="2000"/>
          </a:p>
          <a:p>
            <a:pPr>
              <a:defRPr sz="2400" b="0">
                <a:latin typeface="Calibri Light"/>
              </a:defRPr>
            </a:pPr>
            <a:r>
              <a:rPr lang="en-US" sz="2000" b="0">
                <a:latin typeface="Calibri Light"/>
                <a:ea typeface="+mn-lt"/>
                <a:cs typeface="+mn-lt"/>
              </a:rPr>
              <a:t>Ask pairs to discuss, and invite responses: </a:t>
            </a:r>
            <a:endParaRPr lang="en-US" sz="2000"/>
          </a:p>
          <a:p>
            <a:pPr lvl="1">
              <a:defRPr sz="2200" b="0">
                <a:latin typeface="Calibri Light"/>
              </a:defRPr>
            </a:pPr>
            <a:r>
              <a:rPr lang="en-US" sz="2000" b="0">
                <a:latin typeface="Calibri Light"/>
                <a:ea typeface="+mn-lt"/>
                <a:cs typeface="+mn-lt"/>
              </a:rPr>
              <a:t>Which helper is better for new situations? </a:t>
            </a:r>
            <a:endParaRPr lang="en-US" sz="2000"/>
          </a:p>
          <a:p>
            <a:pPr lvl="1">
              <a:defRPr sz="2200" b="0">
                <a:latin typeface="Calibri Light"/>
              </a:defRPr>
            </a:pPr>
            <a:r>
              <a:rPr lang="en-US" sz="2000" b="0">
                <a:latin typeface="Calibri Light"/>
                <a:ea typeface="+mn-lt"/>
                <a:cs typeface="+mn-lt"/>
              </a:rPr>
              <a:t>Which helper is better when accuracy is critical? </a:t>
            </a:r>
            <a:endParaRPr lang="en-US" sz="2000"/>
          </a:p>
          <a:p>
            <a:pPr lvl="1">
              <a:defRPr sz="2200" b="0">
                <a:latin typeface="Calibri Light"/>
              </a:defRPr>
            </a:pPr>
            <a:r>
              <a:rPr lang="en-US" sz="2000" b="0">
                <a:latin typeface="Calibri Light"/>
                <a:ea typeface="+mn-lt"/>
                <a:cs typeface="+mn-lt"/>
              </a:rPr>
              <a:t>What are the strengths and limitations of each? </a:t>
            </a:r>
            <a:endParaRPr lang="en-US" sz="2000"/>
          </a:p>
          <a:p>
            <a:pPr>
              <a:defRPr sz="2400" b="0">
                <a:latin typeface="Calibri Light"/>
              </a:defRPr>
            </a:pPr>
            <a:r>
              <a:rPr lang="en-US" sz="2000" b="0">
                <a:latin typeface="Calibri Light"/>
                <a:ea typeface="+mn-lt"/>
                <a:cs typeface="+mn-lt"/>
              </a:rPr>
              <a:t>Conclude: </a:t>
            </a:r>
            <a:endParaRPr lang="en-US" sz="2000"/>
          </a:p>
          <a:p>
            <a:pPr lvl="1">
              <a:defRPr sz="2200" b="0">
                <a:latin typeface="Calibri Light"/>
              </a:defRPr>
            </a:pPr>
            <a:r>
              <a:rPr lang="en-US" sz="2000" b="0">
                <a:latin typeface="Calibri Light"/>
                <a:ea typeface="+mn-lt"/>
                <a:cs typeface="+mn-lt"/>
              </a:rPr>
              <a:t>Helper 1 = Rule-Based System: Follows fixed rules, reliable for predictable tasks. </a:t>
            </a:r>
            <a:endParaRPr lang="en-US" sz="2000"/>
          </a:p>
          <a:p>
            <a:pPr lvl="1">
              <a:defRPr sz="2200" b="0">
                <a:latin typeface="Calibri Light"/>
              </a:defRPr>
            </a:pPr>
            <a:r>
              <a:rPr lang="en-US" sz="2000" b="0">
                <a:latin typeface="Calibri Light"/>
                <a:ea typeface="+mn-lt"/>
                <a:cs typeface="+mn-lt"/>
              </a:rPr>
              <a:t>Helper 2 = Learning-Based AI: Learns from data, adapts to new situations, but may not always be 100% accurate.</a:t>
            </a:r>
            <a:endParaRPr lang="en-US" sz="2000"/>
          </a:p>
          <a:p>
            <a:pPr>
              <a:defRPr sz="2400" b="0">
                <a:latin typeface="Calibri Light"/>
              </a:defRPr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164788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114D53-B5DF-2662-4A5B-B3992B437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9485-7111-D6EE-89F6-DC43D0E5F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The AI Hierarchy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640034-2B34-D049-6ABC-1C2CC2402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3038" y="1096963"/>
            <a:ext cx="9685925" cy="534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9575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80C2A-622A-EECE-7EF2-D21EF905F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Teachers to check the following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6CCF9-A25D-63FA-B36E-83AEE2149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QUESTION :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Source:</a:t>
            </a:r>
            <a:r>
              <a:rPr lang="en-US">
                <a:ea typeface="+mn-lt"/>
                <a:cs typeface="+mn-lt"/>
              </a:rPr>
              <a:t> Where did this come from?</a:t>
            </a:r>
            <a:br>
              <a:rPr lang="en-US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Evidence:</a:t>
            </a:r>
            <a:r>
              <a:rPr lang="en-US">
                <a:ea typeface="+mn-lt"/>
                <a:cs typeface="+mn-lt"/>
              </a:rPr>
              <a:t> Does the source actually support the claim?</a:t>
            </a:r>
            <a:br>
              <a:rPr lang="en-US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Check:</a:t>
            </a:r>
            <a:r>
              <a:rPr lang="en-US">
                <a:ea typeface="+mn-lt"/>
                <a:cs typeface="+mn-lt"/>
              </a:rPr>
              <a:t> What might be wrong or uncertain?</a:t>
            </a:r>
            <a:br>
              <a:rPr lang="en-US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Bias:</a:t>
            </a:r>
            <a:r>
              <a:rPr lang="en-US">
                <a:ea typeface="+mn-lt"/>
                <a:cs typeface="+mn-lt"/>
              </a:rPr>
              <a:t> Whose perspective or assumptions are present?</a:t>
            </a:r>
            <a:br>
              <a:rPr lang="en-US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Access:</a:t>
            </a:r>
            <a:r>
              <a:rPr lang="en-US">
                <a:ea typeface="+mn-lt"/>
                <a:cs typeface="+mn-lt"/>
              </a:rPr>
              <a:t> Can all my students use this?</a:t>
            </a:r>
            <a:br>
              <a:rPr lang="en-US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Verify:</a:t>
            </a:r>
            <a:r>
              <a:rPr lang="en-US">
                <a:ea typeface="+mn-lt"/>
                <a:cs typeface="+mn-lt"/>
              </a:rPr>
              <a:t> What do I need to check before I teach it?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760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ABC54A-BAE0-A068-0B44-F0D18C64B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049A-4E8E-099D-1EDE-BD8F8C017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Teachers to check the following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86E78-669F-3E47-F8BD-F2177CB32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QUESTION :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Source:</a:t>
            </a:r>
            <a:r>
              <a:rPr lang="en-US">
                <a:ea typeface="+mn-lt"/>
                <a:cs typeface="+mn-lt"/>
              </a:rPr>
              <a:t> Where did this come from?</a:t>
            </a:r>
            <a:br>
              <a:rPr lang="en-US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Evidence:</a:t>
            </a:r>
            <a:r>
              <a:rPr lang="en-US">
                <a:ea typeface="+mn-lt"/>
                <a:cs typeface="+mn-lt"/>
              </a:rPr>
              <a:t> Does the source actually support the claim?</a:t>
            </a:r>
            <a:br>
              <a:rPr lang="en-US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Check:</a:t>
            </a:r>
            <a:r>
              <a:rPr lang="en-US">
                <a:ea typeface="+mn-lt"/>
                <a:cs typeface="+mn-lt"/>
              </a:rPr>
              <a:t> What might be wrong or uncertain?</a:t>
            </a:r>
            <a:br>
              <a:rPr lang="en-US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Bias:</a:t>
            </a:r>
            <a:r>
              <a:rPr lang="en-US">
                <a:ea typeface="+mn-lt"/>
                <a:cs typeface="+mn-lt"/>
              </a:rPr>
              <a:t> Whose perspective or assumptions are present?</a:t>
            </a:r>
            <a:br>
              <a:rPr lang="en-US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Access:</a:t>
            </a:r>
            <a:r>
              <a:rPr lang="en-US">
                <a:ea typeface="+mn-lt"/>
                <a:cs typeface="+mn-lt"/>
              </a:rPr>
              <a:t> Can all my students use this?</a:t>
            </a:r>
            <a:br>
              <a:rPr lang="en-US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Verify:</a:t>
            </a:r>
            <a:r>
              <a:rPr lang="en-US">
                <a:ea typeface="+mn-lt"/>
                <a:cs typeface="+mn-lt"/>
              </a:rPr>
              <a:t> What do I need to check before I teach it?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587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6629-409A-63BB-644A-A87D6430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82880"/>
            <a:ext cx="11369040" cy="685800"/>
          </a:xfrm>
        </p:spPr>
        <p:txBody>
          <a:bodyPr wrap="square">
            <a:noAutofit/>
          </a:bodyPr>
          <a:lstStyle/>
          <a:p>
            <a:pPr algn="l">
              <a:defRPr sz="3600" b="1">
                <a:latin typeface="Calibri Light"/>
              </a:defRPr>
            </a:pPr>
            <a:r>
              <a:rPr lang="en-US" sz="3600" b="1">
                <a:latin typeface="Calibri Light"/>
              </a:rPr>
              <a:t>STEM Advancements leading to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A2B95-B1A0-775B-393E-8204196F8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97280"/>
            <a:ext cx="10911840" cy="53492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AI systems that are available today have become possible due to advancements in 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1">
                <a:latin typeface="Calibri Light"/>
              </a:rPr>
              <a:t>Statistics</a:t>
            </a:r>
            <a:r>
              <a:rPr lang="en-US" sz="2200" b="0">
                <a:latin typeface="Calibri Light"/>
              </a:rPr>
              <a:t> (learning from data, probability) 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1">
                <a:latin typeface="Calibri Light"/>
              </a:rPr>
              <a:t>Algebra</a:t>
            </a:r>
            <a:r>
              <a:rPr lang="en-US" sz="2200" b="0">
                <a:latin typeface="Calibri Light"/>
              </a:rPr>
              <a:t> (representing data), </a:t>
            </a:r>
            <a:r>
              <a:rPr lang="en-US" sz="2200" b="1">
                <a:latin typeface="Calibri Light"/>
              </a:rPr>
              <a:t>Calculus </a:t>
            </a:r>
            <a:r>
              <a:rPr lang="en-US" sz="2200" b="0">
                <a:latin typeface="Calibri Light"/>
              </a:rPr>
              <a:t>(learning from error), </a:t>
            </a:r>
            <a:r>
              <a:rPr lang="en-US" sz="2200" b="1">
                <a:latin typeface="Calibri Light"/>
              </a:rPr>
              <a:t>Information and Computation Theory </a:t>
            </a:r>
            <a:r>
              <a:rPr lang="en-US" sz="2200" b="0">
                <a:latin typeface="Calibri Light"/>
              </a:rPr>
              <a:t>(handling uncertainty), </a:t>
            </a:r>
            <a:r>
              <a:rPr lang="en-US" sz="2200" b="1">
                <a:latin typeface="Calibri Light"/>
              </a:rPr>
              <a:t>Computer Science </a:t>
            </a:r>
            <a:r>
              <a:rPr lang="en-US" sz="2200" b="0">
                <a:latin typeface="Calibri Light"/>
              </a:rPr>
              <a:t>etc.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1">
                <a:latin typeface="Calibri Light"/>
              </a:rPr>
              <a:t>Large Scale Storage and Computing</a:t>
            </a:r>
          </a:p>
          <a:p>
            <a:pPr>
              <a:defRPr sz="2400" b="0">
                <a:latin typeface="Calibri Light"/>
              </a:defRPr>
            </a:pPr>
            <a:r>
              <a:rPr lang="en-US" sz="2400" b="0">
                <a:latin typeface="Calibri Light"/>
              </a:rPr>
              <a:t>Special features of AI include 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Expert systems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Natural Language Processing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Speech Recognition </a:t>
            </a:r>
          </a:p>
          <a:p>
            <a:pPr lvl="1">
              <a:defRPr sz="2200" b="0">
                <a:latin typeface="Calibri Light"/>
              </a:defRPr>
            </a:pPr>
            <a:r>
              <a:rPr lang="en-US" sz="2200" b="0">
                <a:latin typeface="Calibri Light"/>
              </a:rPr>
              <a:t>Machine Vision</a:t>
            </a:r>
            <a:endParaRPr lang="en-US" sz="2200">
              <a:latin typeface="Calibri Light"/>
            </a:endParaRPr>
          </a:p>
          <a:p>
            <a:pPr lvl="1">
              <a:buFont typeface="Courier New" panose="020B0604020202020204" pitchFamily="34" charset="0"/>
              <a:buChar char="o"/>
              <a:defRPr sz="2200" b="0">
                <a:latin typeface="Calibri Light"/>
              </a:defRPr>
            </a:pPr>
            <a:endParaRPr lang="en-US" sz="2200" b="0"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364640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C8C1B650FCD44A90F6C15D7C0B4FC9" ma:contentTypeVersion="18" ma:contentTypeDescription="Create a new document." ma:contentTypeScope="" ma:versionID="39739da473e5b8afebf57db0f6962ee5">
  <xsd:schema xmlns:xsd="http://www.w3.org/2001/XMLSchema" xmlns:xs="http://www.w3.org/2001/XMLSchema" xmlns:p="http://schemas.microsoft.com/office/2006/metadata/properties" xmlns:ns2="f6c69493-c5c9-4f33-a298-9c893d5c6711" xmlns:ns3="d54f43a1-7c0c-48f2-bcfc-ef5ef65a9c54" targetNamespace="http://schemas.microsoft.com/office/2006/metadata/properties" ma:root="true" ma:fieldsID="57ae9f947d10ee90e2f9f698db1789af" ns2:_="" ns3:_="">
    <xsd:import namespace="f6c69493-c5c9-4f33-a298-9c893d5c6711"/>
    <xsd:import namespace="d54f43a1-7c0c-48f2-bcfc-ef5ef65a9c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Description2" minOccurs="0"/>
                <xsd:element ref="ns2:ActivityTyp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c69493-c5c9-4f33-a298-9c893d5c67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90401c9f-843b-44d9-a447-17a8aba967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Description2" ma:index="23" nillable="true" ma:displayName="Description2" ma:format="Dropdown" ma:internalName="Description2">
      <xsd:simpleType>
        <xsd:restriction base="dms:Note">
          <xsd:maxLength value="255"/>
        </xsd:restriction>
      </xsd:simpleType>
    </xsd:element>
    <xsd:element name="ActivityType" ma:index="24" nillable="true" ma:displayName="ActivityType" ma:format="Dropdown" ma:internalName="ActivityType">
      <xsd:simpleType>
        <xsd:restriction base="dms:Choice">
          <xsd:enumeration value="Event"/>
          <xsd:enumeration value="Visit"/>
          <xsd:enumeration value="Volunteering"/>
          <xsd:enumeration value="Other"/>
        </xsd:restriction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4f43a1-7c0c-48f2-bcfc-ef5ef65a9c5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b608f56c-1dd0-45c8-8f50-b616c921bdbb}" ma:internalName="TaxCatchAll" ma:showField="CatchAllData" ma:web="d54f43a1-7c0c-48f2-bcfc-ef5ef65a9c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tivityType xmlns="f6c69493-c5c9-4f33-a298-9c893d5c6711" xsi:nil="true"/>
    <lcf76f155ced4ddcb4097134ff3c332f xmlns="f6c69493-c5c9-4f33-a298-9c893d5c6711">
      <Terms xmlns="http://schemas.microsoft.com/office/infopath/2007/PartnerControls"/>
    </lcf76f155ced4ddcb4097134ff3c332f>
    <TaxCatchAll xmlns="d54f43a1-7c0c-48f2-bcfc-ef5ef65a9c54" xsi:nil="true"/>
    <Description2 xmlns="f6c69493-c5c9-4f33-a298-9c893d5c6711" xsi:nil="true"/>
  </documentManagement>
</p:properties>
</file>

<file path=customXml/itemProps1.xml><?xml version="1.0" encoding="utf-8"?>
<ds:datastoreItem xmlns:ds="http://schemas.openxmlformats.org/officeDocument/2006/customXml" ds:itemID="{02795AFD-5CDA-493F-8132-BBFDE4AA84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9EFBA9-9486-43B9-95A1-2649A7A133FA}">
  <ds:schemaRefs>
    <ds:schemaRef ds:uri="d54f43a1-7c0c-48f2-bcfc-ef5ef65a9c54"/>
    <ds:schemaRef ds:uri="f6c69493-c5c9-4f33-a298-9c893d5c671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D17553B-6A89-4121-BD0F-7DA3FFEA8FFC}">
  <ds:schemaRefs>
    <ds:schemaRef ds:uri="d54f43a1-7c0c-48f2-bcfc-ef5ef65a9c54"/>
    <ds:schemaRef ds:uri="f6c69493-c5c9-4f33-a298-9c893d5c671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49</Slides>
  <Notes>13</Notes>
  <HiddenSlides>9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Office Theme</vt:lpstr>
      <vt:lpstr>Vision Empower Trust AI Skilling Program </vt:lpstr>
      <vt:lpstr>Agenda</vt:lpstr>
      <vt:lpstr>Pre-Assessment</vt:lpstr>
      <vt:lpstr>Ice Breaker – Thinking about different technologies</vt:lpstr>
      <vt:lpstr>Ice Breaker – Can you spot the AI ?</vt:lpstr>
      <vt:lpstr>Traffic lights – Without and With AI</vt:lpstr>
      <vt:lpstr>Understanding AI from basics</vt:lpstr>
      <vt:lpstr>What is Intelligence ?</vt:lpstr>
      <vt:lpstr>What is Artificial Intelligence ?</vt:lpstr>
      <vt:lpstr>Let us consider this scenario </vt:lpstr>
      <vt:lpstr>Why is AI important?</vt:lpstr>
      <vt:lpstr>Where is AI being used ?</vt:lpstr>
      <vt:lpstr>How to make a machine intelligent?</vt:lpstr>
      <vt:lpstr>How to make a machine learn and think? </vt:lpstr>
      <vt:lpstr>Machines can be taught in many ways</vt:lpstr>
      <vt:lpstr>Machines can be taught in many ways (continued)</vt:lpstr>
      <vt:lpstr>Lets experience AI </vt:lpstr>
      <vt:lpstr>Shall we use AI and experience it?</vt:lpstr>
      <vt:lpstr>Data – The Fuel of AI</vt:lpstr>
      <vt:lpstr>Data – The fuel of Artificial Intelligence</vt:lpstr>
      <vt:lpstr>How to make data-driven intelligence systems better?</vt:lpstr>
      <vt:lpstr>Good Data and Design – Needed for AI</vt:lpstr>
      <vt:lpstr>Towards Responsible, Informed and Conscious use of AI</vt:lpstr>
      <vt:lpstr>AI is important and useful. Why should we be concerned ?</vt:lpstr>
      <vt:lpstr>Prompt : “Draw the structure of the carbon atom”</vt:lpstr>
      <vt:lpstr>Understanding GenAI Responses</vt:lpstr>
      <vt:lpstr>How do we use AI if it has pros and cons?</vt:lpstr>
      <vt:lpstr>AI In Education Covered in detail in Module 2</vt:lpstr>
      <vt:lpstr>Examples of data from education </vt:lpstr>
      <vt:lpstr>Where can AI be used in Education</vt:lpstr>
      <vt:lpstr>Teacher-In-The-Loop when using AI for education</vt:lpstr>
      <vt:lpstr>Suggested prompt to get good answers : "QUESTION" — Teacher AI Guardrail Prompt  </vt:lpstr>
      <vt:lpstr>With and without the QUESTION prompt</vt:lpstr>
      <vt:lpstr>Try your questions with and without the guardrail prompt </vt:lpstr>
      <vt:lpstr>Things to look out for as a teacher</vt:lpstr>
      <vt:lpstr>Let us all remember </vt:lpstr>
      <vt:lpstr>Summary and takeaways </vt:lpstr>
      <vt:lpstr>Can I teach AI to students ?</vt:lpstr>
      <vt:lpstr>PowerPoint Presentation</vt:lpstr>
      <vt:lpstr>Post-Assessment</vt:lpstr>
      <vt:lpstr>Thank You !</vt:lpstr>
      <vt:lpstr>PowerPoint Presentation</vt:lpstr>
      <vt:lpstr>PowerPoint Presentation</vt:lpstr>
      <vt:lpstr>PowerPoint Presentation</vt:lpstr>
      <vt:lpstr>Activity: Rule-Based Systems vs Learning-Based AI</vt:lpstr>
      <vt:lpstr>The AI Hierarchy</vt:lpstr>
      <vt:lpstr>Teachers to check the following</vt:lpstr>
      <vt:lpstr>Teachers to check the following</vt:lpstr>
      <vt:lpstr>STEM Advancements leading to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Meera Muthukrishnan</dc:creator>
  <cp:revision>14</cp:revision>
  <dcterms:created xsi:type="dcterms:W3CDTF">2026-07-08T02:46:24Z</dcterms:created>
  <dcterms:modified xsi:type="dcterms:W3CDTF">2026-09-08T01:55:44Z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0x01010073C8C1B650FCD44A90F6C15D7C0B4FC9</vt:lpwstr>
  </property>
  <property fmtid="{D5CDD505-2E9C-101B-9397-08002B2CF9AE}" pid="3" name="MediaServiceImageTags">
    <vt:lpwstr/>
  </property>
</Properties>
</file>